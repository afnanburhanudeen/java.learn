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EAB41B-E0E5-4E1C-8B95-77D1234CDEF0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9FDC71-62B6-4D38-B0AE-0502B89CC42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9FDC71-62B6-4D38-B0AE-0502B89CC42D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C8EF-AA16-4B00-92B2-AD265D0ADD5C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9610-36FA-4764-B97B-ECB254D80B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C8EF-AA16-4B00-92B2-AD265D0ADD5C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9610-36FA-4764-B97B-ECB254D80B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C8EF-AA16-4B00-92B2-AD265D0ADD5C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9610-36FA-4764-B97B-ECB254D80B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C8EF-AA16-4B00-92B2-AD265D0ADD5C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9610-36FA-4764-B97B-ECB254D80B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C8EF-AA16-4B00-92B2-AD265D0ADD5C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9610-36FA-4764-B97B-ECB254D80B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C8EF-AA16-4B00-92B2-AD265D0ADD5C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9610-36FA-4764-B97B-ECB254D80B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C8EF-AA16-4B00-92B2-AD265D0ADD5C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9610-36FA-4764-B97B-ECB254D80B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C8EF-AA16-4B00-92B2-AD265D0ADD5C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9610-36FA-4764-B97B-ECB254D80B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C8EF-AA16-4B00-92B2-AD265D0ADD5C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9610-36FA-4764-B97B-ECB254D80B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C8EF-AA16-4B00-92B2-AD265D0ADD5C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9610-36FA-4764-B97B-ECB254D80B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C8EF-AA16-4B00-92B2-AD265D0ADD5C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9610-36FA-4764-B97B-ECB254D80B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0FC8EF-AA16-4B00-92B2-AD265D0ADD5C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9F9610-36FA-4764-B97B-ECB254D80B9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971800"/>
            <a:ext cx="7772400" cy="1470025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1600" dirty="0" smtClean="0">
                <a:latin typeface="Bahnschrift" pitchFamily="34" charset="0"/>
              </a:rPr>
              <a:t>import </a:t>
            </a:r>
            <a:r>
              <a:rPr lang="en-US" sz="1600" dirty="0" err="1" smtClean="0">
                <a:latin typeface="Bahnschrift" pitchFamily="34" charset="0"/>
              </a:rPr>
              <a:t>java.util.Scanner</a:t>
            </a:r>
            <a:r>
              <a:rPr lang="en-US" sz="1600" dirty="0" smtClean="0">
                <a:latin typeface="Bahnschrift" pitchFamily="34" charset="0"/>
              </a:rPr>
              <a:t>;</a:t>
            </a:r>
            <a:br>
              <a:rPr lang="en-US" sz="1600" dirty="0" smtClean="0">
                <a:latin typeface="Bahnschrift" pitchFamily="34" charset="0"/>
              </a:rPr>
            </a:br>
            <a:r>
              <a:rPr lang="en-US" sz="1600" dirty="0" smtClean="0">
                <a:latin typeface="Bahnschrift" pitchFamily="34" charset="0"/>
              </a:rPr>
              <a:t>class Main{    </a:t>
            </a:r>
            <a:br>
              <a:rPr lang="en-US" sz="1600" dirty="0" smtClean="0">
                <a:latin typeface="Bahnschrift" pitchFamily="34" charset="0"/>
              </a:rPr>
            </a:br>
            <a:r>
              <a:rPr lang="en-US" sz="1600" dirty="0" smtClean="0">
                <a:latin typeface="Bahnschrift" pitchFamily="34" charset="0"/>
              </a:rPr>
              <a:t>public static void main(String[] </a:t>
            </a:r>
            <a:r>
              <a:rPr lang="en-US" sz="1600" dirty="0" err="1" smtClean="0">
                <a:latin typeface="Bahnschrift" pitchFamily="34" charset="0"/>
              </a:rPr>
              <a:t>args</a:t>
            </a:r>
            <a:r>
              <a:rPr lang="en-US" sz="1600" dirty="0" smtClean="0">
                <a:latin typeface="Bahnschrift" pitchFamily="34" charset="0"/>
              </a:rPr>
              <a:t>){       </a:t>
            </a:r>
            <a:br>
              <a:rPr lang="en-US" sz="1600" dirty="0" smtClean="0">
                <a:latin typeface="Bahnschrift" pitchFamily="34" charset="0"/>
              </a:rPr>
            </a:br>
            <a:r>
              <a:rPr lang="en-US" sz="1600" dirty="0" smtClean="0">
                <a:latin typeface="Bahnschrift" pitchFamily="34" charset="0"/>
              </a:rPr>
              <a:t> Scanner sc = new Scanner(</a:t>
            </a:r>
            <a:r>
              <a:rPr lang="en-US" sz="1600" dirty="0" err="1" smtClean="0">
                <a:latin typeface="Bahnschrift" pitchFamily="34" charset="0"/>
              </a:rPr>
              <a:t>System.in</a:t>
            </a:r>
            <a:r>
              <a:rPr lang="en-US" sz="1600" dirty="0" smtClean="0">
                <a:latin typeface="Bahnschrift" pitchFamily="34" charset="0"/>
              </a:rPr>
              <a:t>);        </a:t>
            </a:r>
            <a:br>
              <a:rPr lang="en-US" sz="1600" dirty="0" smtClean="0">
                <a:latin typeface="Bahnschrift" pitchFamily="34" charset="0"/>
              </a:rPr>
            </a:br>
            <a:r>
              <a:rPr lang="en-US" sz="1600" dirty="0" err="1" smtClean="0">
                <a:latin typeface="Bahnschrift" pitchFamily="34" charset="0"/>
              </a:rPr>
              <a:t>int</a:t>
            </a:r>
            <a:r>
              <a:rPr lang="en-US" sz="1600" dirty="0" smtClean="0">
                <a:latin typeface="Bahnschrift" pitchFamily="34" charset="0"/>
              </a:rPr>
              <a:t> mark = </a:t>
            </a:r>
            <a:r>
              <a:rPr lang="en-US" sz="1600" dirty="0" err="1" smtClean="0">
                <a:latin typeface="Bahnschrift" pitchFamily="34" charset="0"/>
              </a:rPr>
              <a:t>sc.nextInt</a:t>
            </a:r>
            <a:r>
              <a:rPr lang="en-US" sz="1600" dirty="0" smtClean="0">
                <a:latin typeface="Bahnschrift" pitchFamily="34" charset="0"/>
              </a:rPr>
              <a:t>();       </a:t>
            </a:r>
            <a:br>
              <a:rPr lang="en-US" sz="1600" dirty="0" smtClean="0">
                <a:latin typeface="Bahnschrift" pitchFamily="34" charset="0"/>
              </a:rPr>
            </a:br>
            <a:r>
              <a:rPr lang="en-US" sz="1600" dirty="0" smtClean="0">
                <a:latin typeface="Bahnschrift" pitchFamily="34" charset="0"/>
              </a:rPr>
              <a:t> if(mark &gt;= 90){            </a:t>
            </a:r>
            <a:br>
              <a:rPr lang="en-US" sz="1600" dirty="0" smtClean="0">
                <a:latin typeface="Bahnschrift" pitchFamily="34" charset="0"/>
              </a:rPr>
            </a:br>
            <a:r>
              <a:rPr lang="en-US" sz="1600" dirty="0" err="1" smtClean="0">
                <a:latin typeface="Bahnschrift" pitchFamily="34" charset="0"/>
              </a:rPr>
              <a:t>System.out.println</a:t>
            </a:r>
            <a:r>
              <a:rPr lang="en-US" sz="1600" dirty="0" smtClean="0">
                <a:latin typeface="Bahnschrift" pitchFamily="34" charset="0"/>
              </a:rPr>
              <a:t>("Grade A");        </a:t>
            </a:r>
            <a:br>
              <a:rPr lang="en-US" sz="1600" dirty="0" smtClean="0">
                <a:latin typeface="Bahnschrift" pitchFamily="34" charset="0"/>
              </a:rPr>
            </a:br>
            <a:r>
              <a:rPr lang="en-US" sz="1600" dirty="0" smtClean="0">
                <a:latin typeface="Bahnschrift" pitchFamily="34" charset="0"/>
              </a:rPr>
              <a:t>} else if(mark&gt;=80) {           </a:t>
            </a:r>
            <a:br>
              <a:rPr lang="en-US" sz="1600" dirty="0" smtClean="0">
                <a:latin typeface="Bahnschrift" pitchFamily="34" charset="0"/>
              </a:rPr>
            </a:br>
            <a:r>
              <a:rPr lang="en-US" sz="1600" dirty="0" smtClean="0">
                <a:latin typeface="Bahnschrift" pitchFamily="34" charset="0"/>
              </a:rPr>
              <a:t> </a:t>
            </a:r>
            <a:r>
              <a:rPr lang="en-US" sz="1600" dirty="0" err="1" smtClean="0">
                <a:latin typeface="Bahnschrift" pitchFamily="34" charset="0"/>
              </a:rPr>
              <a:t>System.out.println</a:t>
            </a:r>
            <a:r>
              <a:rPr lang="en-US" sz="1600" dirty="0" smtClean="0">
                <a:latin typeface="Bahnschrift" pitchFamily="34" charset="0"/>
              </a:rPr>
              <a:t>("Grade B");        </a:t>
            </a:r>
            <a:br>
              <a:rPr lang="en-US" sz="1600" dirty="0" smtClean="0">
                <a:latin typeface="Bahnschrift" pitchFamily="34" charset="0"/>
              </a:rPr>
            </a:br>
            <a:r>
              <a:rPr lang="en-US" sz="1600" dirty="0" smtClean="0">
                <a:latin typeface="Bahnschrift" pitchFamily="34" charset="0"/>
              </a:rPr>
              <a:t>} else if(mark&gt;=70){            </a:t>
            </a:r>
            <a:br>
              <a:rPr lang="en-US" sz="1600" dirty="0" smtClean="0">
                <a:latin typeface="Bahnschrift" pitchFamily="34" charset="0"/>
              </a:rPr>
            </a:br>
            <a:r>
              <a:rPr lang="en-US" sz="1600" dirty="0" err="1" smtClean="0">
                <a:latin typeface="Bahnschrift" pitchFamily="34" charset="0"/>
              </a:rPr>
              <a:t>System.out.println</a:t>
            </a:r>
            <a:r>
              <a:rPr lang="en-US" sz="1600" dirty="0" smtClean="0">
                <a:latin typeface="Bahnschrift" pitchFamily="34" charset="0"/>
              </a:rPr>
              <a:t>("Grade C");        </a:t>
            </a:r>
            <a:br>
              <a:rPr lang="en-US" sz="1600" dirty="0" smtClean="0">
                <a:latin typeface="Bahnschrift" pitchFamily="34" charset="0"/>
              </a:rPr>
            </a:br>
            <a:r>
              <a:rPr lang="en-US" sz="1600" dirty="0" smtClean="0">
                <a:latin typeface="Bahnschrift" pitchFamily="34" charset="0"/>
              </a:rPr>
              <a:t>} else {           </a:t>
            </a:r>
            <a:br>
              <a:rPr lang="en-US" sz="1600" dirty="0" smtClean="0">
                <a:latin typeface="Bahnschrift" pitchFamily="34" charset="0"/>
              </a:rPr>
            </a:br>
            <a:r>
              <a:rPr lang="en-US" sz="1600" dirty="0" smtClean="0">
                <a:latin typeface="Bahnschrift" pitchFamily="34" charset="0"/>
              </a:rPr>
              <a:t> </a:t>
            </a:r>
            <a:r>
              <a:rPr lang="en-US" sz="1600" dirty="0" err="1" smtClean="0">
                <a:latin typeface="Bahnschrift" pitchFamily="34" charset="0"/>
              </a:rPr>
              <a:t>System.out.println</a:t>
            </a:r>
            <a:r>
              <a:rPr lang="en-US" sz="1600" dirty="0" smtClean="0">
                <a:latin typeface="Bahnschrift" pitchFamily="34" charset="0"/>
              </a:rPr>
              <a:t>("Failed!");        </a:t>
            </a:r>
            <a:br>
              <a:rPr lang="en-US" sz="1600" dirty="0" smtClean="0">
                <a:latin typeface="Bahnschrift" pitchFamily="34" charset="0"/>
              </a:rPr>
            </a:br>
            <a:r>
              <a:rPr lang="en-US" sz="1600" dirty="0" smtClean="0">
                <a:latin typeface="Bahnschrift" pitchFamily="34" charset="0"/>
              </a:rPr>
              <a:t>}   </a:t>
            </a:r>
            <a:br>
              <a:rPr lang="en-US" sz="1600" dirty="0" smtClean="0">
                <a:latin typeface="Bahnschrift" pitchFamily="34" charset="0"/>
              </a:rPr>
            </a:br>
            <a:r>
              <a:rPr lang="en-US" sz="1600" dirty="0" smtClean="0">
                <a:latin typeface="Bahnschrift" pitchFamily="34" charset="0"/>
              </a:rPr>
              <a:t> }</a:t>
            </a:r>
            <a:br>
              <a:rPr lang="en-US" sz="1600" dirty="0" smtClean="0">
                <a:latin typeface="Bahnschrift" pitchFamily="34" charset="0"/>
              </a:rPr>
            </a:br>
            <a:r>
              <a:rPr lang="en-US" sz="1600" dirty="0" smtClean="0">
                <a:latin typeface="Bahnschrift" pitchFamily="34" charset="0"/>
              </a:rPr>
              <a:t>}</a:t>
            </a:r>
            <a:endParaRPr lang="en-US" sz="1600" dirty="0">
              <a:latin typeface="Bahnschrift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8600" y="152400"/>
            <a:ext cx="586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GRADE SYSTEM</a:t>
            </a:r>
            <a:endParaRPr lang="en-US" sz="2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152400"/>
            <a:ext cx="739140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TO FIND THE GIVEN NUMBER IS ZERO, POSITIVE OR NEGATIVE</a:t>
            </a:r>
          </a:p>
          <a:p>
            <a:endParaRPr lang="en-US" dirty="0"/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import </a:t>
            </a:r>
            <a:r>
              <a:rPr lang="en-US" dirty="0" err="1" smtClean="0">
                <a:latin typeface="Bahnschrift Light SemiCondensed" pitchFamily="34" charset="0"/>
              </a:rPr>
              <a:t>java.util.Scanner</a:t>
            </a:r>
            <a:r>
              <a:rPr lang="en-US" dirty="0" smtClean="0">
                <a:latin typeface="Bahnschrift Light SemiCondensed" pitchFamily="34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class Main {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public static void main(String[] </a:t>
            </a:r>
            <a:r>
              <a:rPr lang="en-US" dirty="0" err="1" smtClean="0">
                <a:latin typeface="Bahnschrift Light SemiCondensed" pitchFamily="34" charset="0"/>
              </a:rPr>
              <a:t>args</a:t>
            </a:r>
            <a:r>
              <a:rPr lang="en-US" dirty="0" smtClean="0">
                <a:latin typeface="Bahnschrift Light SemiCondensed" pitchFamily="34" charset="0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Scanner sc = new Scanner(</a:t>
            </a:r>
            <a:r>
              <a:rPr lang="en-US" dirty="0" err="1" smtClean="0">
                <a:latin typeface="Bahnschrift Light SemiCondensed" pitchFamily="34" charset="0"/>
              </a:rPr>
              <a:t>System.in</a:t>
            </a:r>
            <a:r>
              <a:rPr lang="en-US" dirty="0" smtClean="0">
                <a:latin typeface="Bahnschrift Light SemiCondensed" pitchFamily="34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err="1" smtClean="0">
                <a:latin typeface="Bahnschrift Light SemiCondensed" pitchFamily="34" charset="0"/>
              </a:rPr>
              <a:t>int</a:t>
            </a:r>
            <a:r>
              <a:rPr lang="en-US" dirty="0" smtClean="0">
                <a:latin typeface="Bahnschrift Light SemiCondensed" pitchFamily="34" charset="0"/>
              </a:rPr>
              <a:t> a = </a:t>
            </a:r>
            <a:r>
              <a:rPr lang="en-US" dirty="0" err="1" smtClean="0">
                <a:latin typeface="Bahnschrift Light SemiCondensed" pitchFamily="34" charset="0"/>
              </a:rPr>
              <a:t>sc.nextInt</a:t>
            </a:r>
            <a:r>
              <a:rPr lang="en-US" dirty="0" smtClean="0">
                <a:latin typeface="Bahnschrift Light SemiCondensed" pitchFamily="34" charset="0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if(a&gt;0){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       </a:t>
            </a:r>
            <a:r>
              <a:rPr lang="en-US" dirty="0" err="1" smtClean="0">
                <a:latin typeface="Bahnschrift Light SemiCondensed" pitchFamily="34" charset="0"/>
              </a:rPr>
              <a:t>System.out.println</a:t>
            </a:r>
            <a:r>
              <a:rPr lang="en-US" dirty="0" smtClean="0">
                <a:latin typeface="Bahnschrift Light SemiCondensed" pitchFamily="34" charset="0"/>
              </a:rPr>
              <a:t>( a + " is positive");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} else if (a&lt;0){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err="1" smtClean="0">
                <a:latin typeface="Bahnschrift Light SemiCondensed" pitchFamily="34" charset="0"/>
              </a:rPr>
              <a:t>System.out.println</a:t>
            </a:r>
            <a:r>
              <a:rPr lang="en-US" dirty="0" smtClean="0">
                <a:latin typeface="Bahnschrift Light SemiCondensed" pitchFamily="34" charset="0"/>
              </a:rPr>
              <a:t>(a + " is negative");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}else{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err="1" smtClean="0">
                <a:latin typeface="Bahnschrift Light SemiCondensed" pitchFamily="34" charset="0"/>
              </a:rPr>
              <a:t>System.out.println</a:t>
            </a:r>
            <a:r>
              <a:rPr lang="en-US" dirty="0" smtClean="0">
                <a:latin typeface="Bahnschrift Light SemiCondensed" pitchFamily="34" charset="0"/>
              </a:rPr>
              <a:t>(a + "is zero");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04800"/>
            <a:ext cx="67818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FACTORIAL OF A GIVEN NUMBER</a:t>
            </a:r>
          </a:p>
          <a:p>
            <a:endParaRPr lang="en-US" dirty="0"/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import </a:t>
            </a:r>
            <a:r>
              <a:rPr lang="en-US" dirty="0" err="1" smtClean="0">
                <a:latin typeface="Bahnschrift Light SemiCondensed" pitchFamily="34" charset="0"/>
              </a:rPr>
              <a:t>java.util.Scanner</a:t>
            </a:r>
            <a:r>
              <a:rPr lang="en-US" dirty="0" smtClean="0">
                <a:latin typeface="Bahnschrift Light SemiCondensed" pitchFamily="34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class Main {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public static void main(String[] </a:t>
            </a:r>
            <a:r>
              <a:rPr lang="en-US" dirty="0" err="1" smtClean="0">
                <a:latin typeface="Bahnschrift Light SemiCondensed" pitchFamily="34" charset="0"/>
              </a:rPr>
              <a:t>args</a:t>
            </a:r>
            <a:r>
              <a:rPr lang="en-US" dirty="0" smtClean="0">
                <a:latin typeface="Bahnschrift Light SemiCondensed" pitchFamily="34" charset="0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Scanner sc = new Scanner(</a:t>
            </a:r>
            <a:r>
              <a:rPr lang="en-US" dirty="0" err="1" smtClean="0">
                <a:latin typeface="Bahnschrift Light SemiCondensed" pitchFamily="34" charset="0"/>
              </a:rPr>
              <a:t>System.in</a:t>
            </a:r>
            <a:r>
              <a:rPr lang="en-US" dirty="0" smtClean="0">
                <a:latin typeface="Bahnschrift Light SemiCondensed" pitchFamily="34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err="1" smtClean="0">
                <a:latin typeface="Bahnschrift Light SemiCondensed" pitchFamily="34" charset="0"/>
              </a:rPr>
              <a:t>int</a:t>
            </a:r>
            <a:r>
              <a:rPr lang="en-US" dirty="0" smtClean="0">
                <a:latin typeface="Bahnschrift Light SemiCondensed" pitchFamily="34" charset="0"/>
              </a:rPr>
              <a:t> a = </a:t>
            </a:r>
            <a:r>
              <a:rPr lang="en-US" dirty="0" err="1" smtClean="0">
                <a:latin typeface="Bahnschrift Light SemiCondensed" pitchFamily="34" charset="0"/>
              </a:rPr>
              <a:t>sc.nextInt</a:t>
            </a:r>
            <a:r>
              <a:rPr lang="en-US" dirty="0" smtClean="0">
                <a:latin typeface="Bahnschrift Light SemiCondensed" pitchFamily="34" charset="0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err="1" smtClean="0">
                <a:latin typeface="Bahnschrift Light SemiCondensed" pitchFamily="34" charset="0"/>
              </a:rPr>
              <a:t>int</a:t>
            </a:r>
            <a:r>
              <a:rPr lang="en-US" dirty="0" smtClean="0">
                <a:latin typeface="Bahnschrift Light SemiCondensed" pitchFamily="34" charset="0"/>
              </a:rPr>
              <a:t> factorial = 1;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for(</a:t>
            </a:r>
            <a:r>
              <a:rPr lang="en-US" dirty="0" err="1" smtClean="0">
                <a:latin typeface="Bahnschrift Light SemiCondensed" pitchFamily="34" charset="0"/>
              </a:rPr>
              <a:t>int</a:t>
            </a:r>
            <a:r>
              <a:rPr lang="en-US" dirty="0" smtClean="0">
                <a:latin typeface="Bahnschrift Light SemiCondensed" pitchFamily="34" charset="0"/>
              </a:rPr>
              <a:t> </a:t>
            </a:r>
            <a:r>
              <a:rPr lang="en-US" dirty="0" err="1" smtClean="0">
                <a:latin typeface="Bahnschrift Light SemiCondensed" pitchFamily="34" charset="0"/>
              </a:rPr>
              <a:t>i</a:t>
            </a:r>
            <a:r>
              <a:rPr lang="en-US" dirty="0" smtClean="0">
                <a:latin typeface="Bahnschrift Light SemiCondensed" pitchFamily="34" charset="0"/>
              </a:rPr>
              <a:t>=1;i&lt;=</a:t>
            </a:r>
            <a:r>
              <a:rPr lang="en-US" dirty="0" err="1" smtClean="0">
                <a:latin typeface="Bahnschrift Light SemiCondensed" pitchFamily="34" charset="0"/>
              </a:rPr>
              <a:t>a;i</a:t>
            </a:r>
            <a:r>
              <a:rPr lang="en-US" dirty="0" smtClean="0">
                <a:latin typeface="Bahnschrift Light SemiCondensed" pitchFamily="34" charset="0"/>
              </a:rPr>
              <a:t>++) {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    factorial*=</a:t>
            </a:r>
            <a:r>
              <a:rPr lang="en-US" dirty="0" err="1" smtClean="0">
                <a:latin typeface="Bahnschrift Light SemiCondensed" pitchFamily="34" charset="0"/>
              </a:rPr>
              <a:t>i</a:t>
            </a:r>
            <a:r>
              <a:rPr lang="en-US" dirty="0" smtClean="0">
                <a:latin typeface="Bahnschrift Light SemiCondensed" pitchFamily="34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}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    </a:t>
            </a:r>
            <a:r>
              <a:rPr lang="en-US" dirty="0" err="1" smtClean="0">
                <a:latin typeface="Bahnschrift Light SemiCondensed" pitchFamily="34" charset="0"/>
              </a:rPr>
              <a:t>System.out.println</a:t>
            </a:r>
            <a:r>
              <a:rPr lang="en-US" dirty="0" smtClean="0">
                <a:latin typeface="Bahnschrift Light SemiCondensed" pitchFamily="34" charset="0"/>
              </a:rPr>
              <a:t>("Factorial of 5 is " + factorial);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}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}</a:t>
            </a:r>
            <a:endParaRPr lang="en-US" dirty="0">
              <a:latin typeface="Bahnschrift Light SemiCondensed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304800"/>
            <a:ext cx="7924800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GIVEN YEAR IS LEAP YEAR OR NOT</a:t>
            </a:r>
          </a:p>
          <a:p>
            <a:endParaRPr lang="en-US" dirty="0"/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import </a:t>
            </a:r>
            <a:r>
              <a:rPr lang="en-US" dirty="0" err="1" smtClean="0">
                <a:latin typeface="Bahnschrift Light SemiCondensed" pitchFamily="34" charset="0"/>
              </a:rPr>
              <a:t>java.util.Scanner</a:t>
            </a:r>
            <a:r>
              <a:rPr lang="en-US" dirty="0" smtClean="0">
                <a:latin typeface="Bahnschrift Light SemiCondensed" pitchFamily="34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class Main {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public static void main(String[] </a:t>
            </a:r>
            <a:r>
              <a:rPr lang="en-US" dirty="0" err="1" smtClean="0">
                <a:latin typeface="Bahnschrift Light SemiCondensed" pitchFamily="34" charset="0"/>
              </a:rPr>
              <a:t>args</a:t>
            </a:r>
            <a:r>
              <a:rPr lang="en-US" dirty="0" smtClean="0">
                <a:latin typeface="Bahnschrift Light SemiCondensed" pitchFamily="34" charset="0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Scanner sc = new Scanner(</a:t>
            </a:r>
            <a:r>
              <a:rPr lang="en-US" dirty="0" err="1" smtClean="0">
                <a:latin typeface="Bahnschrift Light SemiCondensed" pitchFamily="34" charset="0"/>
              </a:rPr>
              <a:t>System.in</a:t>
            </a:r>
            <a:r>
              <a:rPr lang="en-US" dirty="0" smtClean="0">
                <a:latin typeface="Bahnschrift Light SemiCondensed" pitchFamily="34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err="1" smtClean="0">
                <a:latin typeface="Bahnschrift Light SemiCondensed" pitchFamily="34" charset="0"/>
              </a:rPr>
              <a:t>int</a:t>
            </a:r>
            <a:r>
              <a:rPr lang="en-US" dirty="0" smtClean="0">
                <a:latin typeface="Bahnschrift Light SemiCondensed" pitchFamily="34" charset="0"/>
              </a:rPr>
              <a:t> c = </a:t>
            </a:r>
            <a:r>
              <a:rPr lang="en-US" dirty="0" err="1" smtClean="0">
                <a:latin typeface="Bahnschrift Light SemiCondensed" pitchFamily="34" charset="0"/>
              </a:rPr>
              <a:t>sc.nextInt</a:t>
            </a:r>
            <a:r>
              <a:rPr lang="en-US" dirty="0" smtClean="0">
                <a:latin typeface="Bahnschrift Light SemiCondensed" pitchFamily="34" charset="0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if(c % 4 == 0 &amp;&amp; c % 100 != 0){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   </a:t>
            </a:r>
            <a:r>
              <a:rPr lang="en-US" dirty="0" err="1" smtClean="0">
                <a:latin typeface="Bahnschrift Light SemiCondensed" pitchFamily="34" charset="0"/>
              </a:rPr>
              <a:t>System.out.println</a:t>
            </a:r>
            <a:r>
              <a:rPr lang="en-US" dirty="0" smtClean="0">
                <a:latin typeface="Bahnschrift Light SemiCondensed" pitchFamily="34" charset="0"/>
              </a:rPr>
              <a:t>("Leap year");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} else{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   </a:t>
            </a:r>
            <a:r>
              <a:rPr lang="en-US" dirty="0" err="1" smtClean="0">
                <a:latin typeface="Bahnschrift Light SemiCondensed" pitchFamily="34" charset="0"/>
              </a:rPr>
              <a:t>System.out.println</a:t>
            </a:r>
            <a:r>
              <a:rPr lang="en-US" dirty="0" smtClean="0">
                <a:latin typeface="Bahnschrift Light SemiCondensed" pitchFamily="34" charset="0"/>
              </a:rPr>
              <a:t>("Not a leap year");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}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}</a:t>
            </a:r>
            <a:endParaRPr lang="en-US" dirty="0">
              <a:latin typeface="Bahnschrift Light SemiCondensed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381000"/>
            <a:ext cx="8458200" cy="6047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SWAPPING OF TWO VARIABLES</a:t>
            </a:r>
          </a:p>
          <a:p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import </a:t>
            </a:r>
            <a:r>
              <a:rPr lang="en-US" dirty="0" err="1" smtClean="0">
                <a:latin typeface="Bahnschrift Light SemiCondensed" pitchFamily="34" charset="0"/>
              </a:rPr>
              <a:t>java.util.Scanner</a:t>
            </a:r>
            <a:r>
              <a:rPr lang="en-US" dirty="0" smtClean="0">
                <a:latin typeface="Bahnschrift Light SemiCondensed" pitchFamily="34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class Main {    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	public static void main(String[] </a:t>
            </a:r>
            <a:r>
              <a:rPr lang="en-US" dirty="0" err="1" smtClean="0">
                <a:latin typeface="Bahnschrift Light SemiCondensed" pitchFamily="34" charset="0"/>
              </a:rPr>
              <a:t>args</a:t>
            </a:r>
            <a:r>
              <a:rPr lang="en-US" dirty="0" smtClean="0">
                <a:latin typeface="Bahnschrift Light SemiCondensed" pitchFamily="34" charset="0"/>
              </a:rPr>
              <a:t>) {        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	Scanner sc = new Scanner(</a:t>
            </a:r>
            <a:r>
              <a:rPr lang="en-US" dirty="0" err="1" smtClean="0">
                <a:latin typeface="Bahnschrift Light SemiCondensed" pitchFamily="34" charset="0"/>
              </a:rPr>
              <a:t>System.in</a:t>
            </a:r>
            <a:r>
              <a:rPr lang="en-US" dirty="0" smtClean="0">
                <a:latin typeface="Bahnschrift Light SemiCondensed" pitchFamily="34" charset="0"/>
              </a:rPr>
              <a:t>);        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	</a:t>
            </a:r>
            <a:r>
              <a:rPr lang="en-US" dirty="0" err="1" smtClean="0">
                <a:latin typeface="Bahnschrift Light SemiCondensed" pitchFamily="34" charset="0"/>
              </a:rPr>
              <a:t>int</a:t>
            </a:r>
            <a:r>
              <a:rPr lang="en-US" dirty="0" smtClean="0">
                <a:latin typeface="Bahnschrift Light SemiCondensed" pitchFamily="34" charset="0"/>
              </a:rPr>
              <a:t> a = </a:t>
            </a:r>
            <a:r>
              <a:rPr lang="en-US" dirty="0" err="1" smtClean="0">
                <a:latin typeface="Bahnschrift Light SemiCondensed" pitchFamily="34" charset="0"/>
              </a:rPr>
              <a:t>sc.nextInt</a:t>
            </a:r>
            <a:r>
              <a:rPr lang="en-US" dirty="0" smtClean="0">
                <a:latin typeface="Bahnschrift Light SemiCondensed" pitchFamily="34" charset="0"/>
              </a:rPr>
              <a:t>();        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	</a:t>
            </a:r>
            <a:r>
              <a:rPr lang="en-US" dirty="0" err="1" smtClean="0">
                <a:latin typeface="Bahnschrift Light SemiCondensed" pitchFamily="34" charset="0"/>
              </a:rPr>
              <a:t>int</a:t>
            </a:r>
            <a:r>
              <a:rPr lang="en-US" dirty="0" smtClean="0">
                <a:latin typeface="Bahnschrift Light SemiCondensed" pitchFamily="34" charset="0"/>
              </a:rPr>
              <a:t> b = </a:t>
            </a:r>
            <a:r>
              <a:rPr lang="en-US" dirty="0" err="1" smtClean="0">
                <a:latin typeface="Bahnschrift Light SemiCondensed" pitchFamily="34" charset="0"/>
              </a:rPr>
              <a:t>sc.nextInt</a:t>
            </a:r>
            <a:r>
              <a:rPr lang="en-US" dirty="0" smtClean="0">
                <a:latin typeface="Bahnschrift Light SemiCondensed" pitchFamily="34" charset="0"/>
              </a:rPr>
              <a:t>();         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	</a:t>
            </a:r>
            <a:r>
              <a:rPr lang="en-US" dirty="0" err="1" smtClean="0">
                <a:latin typeface="Bahnschrift Light SemiCondensed" pitchFamily="34" charset="0"/>
              </a:rPr>
              <a:t>int</a:t>
            </a:r>
            <a:r>
              <a:rPr lang="en-US" dirty="0" smtClean="0">
                <a:latin typeface="Bahnschrift Light SemiCondensed" pitchFamily="34" charset="0"/>
              </a:rPr>
              <a:t> temp = a;        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	a = b;        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	b = temp;        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	</a:t>
            </a:r>
            <a:r>
              <a:rPr lang="en-US" dirty="0" err="1" smtClean="0">
                <a:latin typeface="Bahnschrift Light SemiCondensed" pitchFamily="34" charset="0"/>
              </a:rPr>
              <a:t>System.out.println</a:t>
            </a:r>
            <a:r>
              <a:rPr lang="en-US" dirty="0" smtClean="0">
                <a:latin typeface="Bahnschrift Light SemiCondensed" pitchFamily="34" charset="0"/>
              </a:rPr>
              <a:t>("a: "+a+" "+"b: "+b );        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	</a:t>
            </a:r>
            <a:r>
              <a:rPr lang="en-US" dirty="0" err="1" smtClean="0">
                <a:latin typeface="Bahnschrift Light SemiCondensed" pitchFamily="34" charset="0"/>
              </a:rPr>
              <a:t>sc.close</a:t>
            </a:r>
            <a:r>
              <a:rPr lang="en-US" dirty="0" smtClean="0">
                <a:latin typeface="Bahnschrift Light SemiCondensed" pitchFamily="34" charset="0"/>
              </a:rPr>
              <a:t>();    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	}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}</a:t>
            </a:r>
            <a:endParaRPr lang="en-US" dirty="0">
              <a:latin typeface="Bahnschrift Light SemiCondensed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90600" y="0"/>
            <a:ext cx="8153400" cy="7048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FIND THE BIGGETS NUMBER OF THREE (2378,675,8907)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import </a:t>
            </a:r>
            <a:r>
              <a:rPr lang="en-US" dirty="0" err="1" smtClean="0">
                <a:latin typeface="Bahnschrift Light SemiCondensed" pitchFamily="34" charset="0"/>
              </a:rPr>
              <a:t>java.util.Scanner</a:t>
            </a:r>
            <a:r>
              <a:rPr lang="en-US" dirty="0" smtClean="0">
                <a:latin typeface="Bahnschrift Light SemiCondensed" pitchFamily="34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class Main {    	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	public static void main(String[] </a:t>
            </a:r>
            <a:r>
              <a:rPr lang="en-US" dirty="0" err="1" smtClean="0">
                <a:latin typeface="Bahnschrift Light SemiCondensed" pitchFamily="34" charset="0"/>
              </a:rPr>
              <a:t>args</a:t>
            </a:r>
            <a:r>
              <a:rPr lang="en-US" dirty="0" smtClean="0">
                <a:latin typeface="Bahnschrift Light SemiCondensed" pitchFamily="34" charset="0"/>
              </a:rPr>
              <a:t>) {        	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	Scanner sc = new Scanner(</a:t>
            </a:r>
            <a:r>
              <a:rPr lang="en-US" dirty="0" err="1" smtClean="0">
                <a:latin typeface="Bahnschrift Light SemiCondensed" pitchFamily="34" charset="0"/>
              </a:rPr>
              <a:t>System.in</a:t>
            </a:r>
            <a:r>
              <a:rPr lang="en-US" dirty="0" smtClean="0">
                <a:latin typeface="Bahnschrift Light SemiCondensed" pitchFamily="34" charset="0"/>
              </a:rPr>
              <a:t>);        	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	</a:t>
            </a:r>
            <a:r>
              <a:rPr lang="en-US" dirty="0" err="1" smtClean="0">
                <a:latin typeface="Bahnschrift Light SemiCondensed" pitchFamily="34" charset="0"/>
              </a:rPr>
              <a:t>int</a:t>
            </a:r>
            <a:r>
              <a:rPr lang="en-US" dirty="0" smtClean="0">
                <a:latin typeface="Bahnschrift Light SemiCondensed" pitchFamily="34" charset="0"/>
              </a:rPr>
              <a:t> a = </a:t>
            </a:r>
            <a:r>
              <a:rPr lang="en-US" dirty="0" err="1" smtClean="0">
                <a:latin typeface="Bahnschrift Light SemiCondensed" pitchFamily="34" charset="0"/>
              </a:rPr>
              <a:t>sc.nextInt</a:t>
            </a:r>
            <a:r>
              <a:rPr lang="en-US" dirty="0" smtClean="0">
                <a:latin typeface="Bahnschrift Light SemiCondensed" pitchFamily="34" charset="0"/>
              </a:rPr>
              <a:t>();        	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	</a:t>
            </a:r>
            <a:r>
              <a:rPr lang="en-US" dirty="0" err="1" smtClean="0">
                <a:latin typeface="Bahnschrift Light SemiCondensed" pitchFamily="34" charset="0"/>
              </a:rPr>
              <a:t>int</a:t>
            </a:r>
            <a:r>
              <a:rPr lang="en-US" dirty="0" smtClean="0">
                <a:latin typeface="Bahnschrift Light SemiCondensed" pitchFamily="34" charset="0"/>
              </a:rPr>
              <a:t> b = </a:t>
            </a:r>
            <a:r>
              <a:rPr lang="en-US" dirty="0" err="1" smtClean="0">
                <a:latin typeface="Bahnschrift Light SemiCondensed" pitchFamily="34" charset="0"/>
              </a:rPr>
              <a:t>sc.nextInt</a:t>
            </a:r>
            <a:r>
              <a:rPr lang="en-US" dirty="0" smtClean="0">
                <a:latin typeface="Bahnschrift Light SemiCondensed" pitchFamily="34" charset="0"/>
              </a:rPr>
              <a:t>();             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	</a:t>
            </a:r>
            <a:r>
              <a:rPr lang="en-US" dirty="0" err="1" smtClean="0">
                <a:latin typeface="Bahnschrift Light SemiCondensed" pitchFamily="34" charset="0"/>
              </a:rPr>
              <a:t>int</a:t>
            </a:r>
            <a:r>
              <a:rPr lang="en-US" dirty="0" smtClean="0">
                <a:latin typeface="Bahnschrift Light SemiCondensed" pitchFamily="34" charset="0"/>
              </a:rPr>
              <a:t> c = </a:t>
            </a:r>
            <a:r>
              <a:rPr lang="en-US" dirty="0" err="1" smtClean="0">
                <a:latin typeface="Bahnschrift Light SemiCondensed" pitchFamily="34" charset="0"/>
              </a:rPr>
              <a:t>sc.nextInt</a:t>
            </a:r>
            <a:r>
              <a:rPr lang="en-US" dirty="0" smtClean="0">
                <a:latin typeface="Bahnschrift Light SemiCondensed" pitchFamily="34" charset="0"/>
              </a:rPr>
              <a:t>();    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	if(a&gt;b &amp;&amp; a&gt;c){	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	              </a:t>
            </a:r>
            <a:r>
              <a:rPr lang="en-US" dirty="0" err="1" smtClean="0">
                <a:latin typeface="Bahnschrift Light SemiCondensed" pitchFamily="34" charset="0"/>
              </a:rPr>
              <a:t>System.out.println</a:t>
            </a:r>
            <a:r>
              <a:rPr lang="en-US" dirty="0" smtClean="0">
                <a:latin typeface="Bahnschrift Light SemiCondensed" pitchFamily="34" charset="0"/>
              </a:rPr>
              <a:t>("a is greater" ); 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	} else if(b&gt;a &amp;&amp; b&gt;c){  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	              </a:t>
            </a:r>
            <a:r>
              <a:rPr lang="en-US" dirty="0" err="1" smtClean="0">
                <a:latin typeface="Bahnschrift Light SemiCondensed" pitchFamily="34" charset="0"/>
              </a:rPr>
              <a:t>System.out.println</a:t>
            </a:r>
            <a:r>
              <a:rPr lang="en-US" dirty="0" smtClean="0">
                <a:latin typeface="Bahnschrift Light SemiCondensed" pitchFamily="34" charset="0"/>
              </a:rPr>
              <a:t>("b is greater" ); 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	 } else{       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                       </a:t>
            </a:r>
            <a:r>
              <a:rPr lang="en-US" dirty="0" err="1" smtClean="0">
                <a:latin typeface="Bahnschrift Light SemiCondensed" pitchFamily="34" charset="0"/>
              </a:rPr>
              <a:t>System.out.println</a:t>
            </a:r>
            <a:r>
              <a:rPr lang="en-US" dirty="0" smtClean="0">
                <a:latin typeface="Bahnschrift Light SemiCondensed" pitchFamily="34" charset="0"/>
              </a:rPr>
              <a:t>("c is greater" );  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}	               </a:t>
            </a:r>
            <a:r>
              <a:rPr lang="en-US" dirty="0" err="1" smtClean="0">
                <a:latin typeface="Bahnschrift Light SemiCondensed" pitchFamily="34" charset="0"/>
              </a:rPr>
              <a:t>sc.close</a:t>
            </a:r>
            <a:r>
              <a:rPr lang="en-US" dirty="0" smtClean="0">
                <a:latin typeface="Bahnschrift Light SemiCondensed" pitchFamily="34" charset="0"/>
              </a:rPr>
              <a:t>();    	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	}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}</a:t>
            </a:r>
            <a:endParaRPr lang="en-US" dirty="0">
              <a:latin typeface="Bahnschrift Light SemiCondensed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228600"/>
            <a:ext cx="7620000" cy="44165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</a:t>
            </a:r>
            <a:r>
              <a:rPr lang="en-US" sz="2000" b="1" dirty="0" smtClean="0"/>
              <a:t>REVERSE A USER ENTER STRING </a:t>
            </a:r>
          </a:p>
          <a:p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import </a:t>
            </a:r>
            <a:r>
              <a:rPr lang="en-US" dirty="0" err="1" smtClean="0">
                <a:latin typeface="Bahnschrift Light SemiCondensed" pitchFamily="34" charset="0"/>
              </a:rPr>
              <a:t>java.util.Scanner</a:t>
            </a:r>
            <a:r>
              <a:rPr lang="en-US" dirty="0" smtClean="0">
                <a:latin typeface="Bahnschrift Light SemiCondensed" pitchFamily="34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class Main{    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	public static void main(String[] </a:t>
            </a:r>
            <a:r>
              <a:rPr lang="en-US" dirty="0" err="1" smtClean="0">
                <a:latin typeface="Bahnschrift Light SemiCondensed" pitchFamily="34" charset="0"/>
              </a:rPr>
              <a:t>args</a:t>
            </a:r>
            <a:r>
              <a:rPr lang="en-US" dirty="0" smtClean="0">
                <a:latin typeface="Bahnschrift Light SemiCondensed" pitchFamily="34" charset="0"/>
              </a:rPr>
              <a:t>){        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	Scanner sc= new Scanner(</a:t>
            </a:r>
            <a:r>
              <a:rPr lang="en-US" dirty="0" err="1" smtClean="0">
                <a:latin typeface="Bahnschrift Light SemiCondensed" pitchFamily="34" charset="0"/>
              </a:rPr>
              <a:t>System.in</a:t>
            </a:r>
            <a:r>
              <a:rPr lang="en-US" dirty="0" smtClean="0">
                <a:latin typeface="Bahnschrift Light SemiCondensed" pitchFamily="34" charset="0"/>
              </a:rPr>
              <a:t>);        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	String a = </a:t>
            </a:r>
            <a:r>
              <a:rPr lang="en-US" dirty="0" err="1" smtClean="0">
                <a:latin typeface="Bahnschrift Light SemiCondensed" pitchFamily="34" charset="0"/>
              </a:rPr>
              <a:t>sc.nextLine</a:t>
            </a:r>
            <a:r>
              <a:rPr lang="en-US" dirty="0" smtClean="0">
                <a:latin typeface="Bahnschrift Light SemiCondensed" pitchFamily="34" charset="0"/>
              </a:rPr>
              <a:t>();        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	String b = new </a:t>
            </a:r>
            <a:r>
              <a:rPr lang="en-US" dirty="0" err="1" smtClean="0">
                <a:latin typeface="Bahnschrift Light SemiCondensed" pitchFamily="34" charset="0"/>
              </a:rPr>
              <a:t>StringBuilder</a:t>
            </a:r>
            <a:r>
              <a:rPr lang="en-US" dirty="0" smtClean="0">
                <a:latin typeface="Bahnschrift Light SemiCondensed" pitchFamily="34" charset="0"/>
              </a:rPr>
              <a:t>(a).reverse().</a:t>
            </a:r>
            <a:r>
              <a:rPr lang="en-US" dirty="0" err="1" smtClean="0">
                <a:latin typeface="Bahnschrift Light SemiCondensed" pitchFamily="34" charset="0"/>
              </a:rPr>
              <a:t>toString</a:t>
            </a:r>
            <a:r>
              <a:rPr lang="en-US" dirty="0" smtClean="0">
                <a:latin typeface="Bahnschrift Light SemiCondensed" pitchFamily="34" charset="0"/>
              </a:rPr>
              <a:t>();        	</a:t>
            </a:r>
            <a:r>
              <a:rPr lang="en-US" dirty="0" err="1" smtClean="0">
                <a:latin typeface="Bahnschrift Light SemiCondensed" pitchFamily="34" charset="0"/>
              </a:rPr>
              <a:t>System.out.println</a:t>
            </a:r>
            <a:r>
              <a:rPr lang="en-US" dirty="0" smtClean="0">
                <a:latin typeface="Bahnschrift Light SemiCondensed" pitchFamily="34" charset="0"/>
              </a:rPr>
              <a:t>(b);    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	}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  }</a:t>
            </a:r>
            <a:endParaRPr lang="en-US" dirty="0">
              <a:latin typeface="Bahnschrift Light SemiCondensed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228600"/>
            <a:ext cx="86868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/>
              <a:t>CHECK PALINDROME OR NOT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import </a:t>
            </a:r>
            <a:r>
              <a:rPr lang="en-US" dirty="0" err="1" smtClean="0">
                <a:latin typeface="Bahnschrift Light SemiCondensed" pitchFamily="34" charset="0"/>
              </a:rPr>
              <a:t>java.util.Scanner</a:t>
            </a:r>
            <a:r>
              <a:rPr lang="en-US" dirty="0" smtClean="0">
                <a:latin typeface="Bahnschrift Light SemiCondensed" pitchFamily="34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class Main{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 public static void main(String[] </a:t>
            </a:r>
            <a:r>
              <a:rPr lang="en-US" dirty="0" err="1" smtClean="0">
                <a:latin typeface="Bahnschrift Light SemiCondensed" pitchFamily="34" charset="0"/>
              </a:rPr>
              <a:t>args</a:t>
            </a:r>
            <a:r>
              <a:rPr lang="en-US" dirty="0" smtClean="0">
                <a:latin typeface="Bahnschrift Light SemiCondensed" pitchFamily="34" charset="0"/>
              </a:rPr>
              <a:t>){       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 Scanner sc= new Scanner(</a:t>
            </a:r>
            <a:r>
              <a:rPr lang="en-US" dirty="0" err="1" smtClean="0">
                <a:latin typeface="Bahnschrift Light SemiCondensed" pitchFamily="34" charset="0"/>
              </a:rPr>
              <a:t>System.in</a:t>
            </a:r>
            <a:r>
              <a:rPr lang="en-US" dirty="0" smtClean="0">
                <a:latin typeface="Bahnschrift Light SemiCondensed" pitchFamily="34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String a = </a:t>
            </a:r>
            <a:r>
              <a:rPr lang="en-US" dirty="0" err="1" smtClean="0">
                <a:latin typeface="Bahnschrift Light SemiCondensed" pitchFamily="34" charset="0"/>
              </a:rPr>
              <a:t>sc.nextLine</a:t>
            </a:r>
            <a:r>
              <a:rPr lang="en-US" dirty="0" smtClean="0">
                <a:latin typeface="Bahnschrift Light SemiCondensed" pitchFamily="34" charset="0"/>
              </a:rPr>
              <a:t>();        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String b = new </a:t>
            </a:r>
            <a:r>
              <a:rPr lang="en-US" dirty="0" err="1" smtClean="0">
                <a:latin typeface="Bahnschrift Light SemiCondensed" pitchFamily="34" charset="0"/>
              </a:rPr>
              <a:t>StringBuilder</a:t>
            </a:r>
            <a:r>
              <a:rPr lang="en-US" dirty="0" smtClean="0">
                <a:latin typeface="Bahnschrift Light SemiCondensed" pitchFamily="34" charset="0"/>
              </a:rPr>
              <a:t>(a).reverse().</a:t>
            </a:r>
            <a:r>
              <a:rPr lang="en-US" dirty="0" err="1" smtClean="0">
                <a:latin typeface="Bahnschrift Light SemiCondensed" pitchFamily="34" charset="0"/>
              </a:rPr>
              <a:t>toString</a:t>
            </a:r>
            <a:r>
              <a:rPr lang="en-US" dirty="0" smtClean="0">
                <a:latin typeface="Bahnschrift Light SemiCondensed" pitchFamily="34" charset="0"/>
              </a:rPr>
              <a:t>();        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 if(</a:t>
            </a:r>
            <a:r>
              <a:rPr lang="en-US" dirty="0" err="1" smtClean="0">
                <a:latin typeface="Bahnschrift Light SemiCondensed" pitchFamily="34" charset="0"/>
              </a:rPr>
              <a:t>a.equals</a:t>
            </a:r>
            <a:r>
              <a:rPr lang="en-US" dirty="0" smtClean="0">
                <a:latin typeface="Bahnschrift Light SemiCondensed" pitchFamily="34" charset="0"/>
              </a:rPr>
              <a:t>(b)){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	        </a:t>
            </a:r>
            <a:r>
              <a:rPr lang="en-US" dirty="0" err="1" smtClean="0">
                <a:latin typeface="Bahnschrift Light SemiCondensed" pitchFamily="34" charset="0"/>
              </a:rPr>
              <a:t>System.out.println</a:t>
            </a:r>
            <a:r>
              <a:rPr lang="en-US" dirty="0" smtClean="0">
                <a:latin typeface="Bahnschrift Light SemiCondensed" pitchFamily="34" charset="0"/>
              </a:rPr>
              <a:t>(a + " is palindrome."); 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 } else{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	        </a:t>
            </a:r>
            <a:r>
              <a:rPr lang="en-US" dirty="0" err="1" smtClean="0">
                <a:latin typeface="Bahnschrift Light SemiCondensed" pitchFamily="34" charset="0"/>
              </a:rPr>
              <a:t>System.out.println</a:t>
            </a:r>
            <a:r>
              <a:rPr lang="en-US" dirty="0" smtClean="0">
                <a:latin typeface="Bahnschrift Light SemiCondensed" pitchFamily="34" charset="0"/>
              </a:rPr>
              <a:t>(a + " is not palindrome.");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     }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}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}</a:t>
            </a:r>
            <a:endParaRPr lang="en-US" dirty="0">
              <a:latin typeface="Bahnschrift Light SemiCondensed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8600" y="0"/>
            <a:ext cx="8763000" cy="6632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FACTORIAL USING RECURSION FUNCTION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import </a:t>
            </a:r>
            <a:r>
              <a:rPr lang="en-US" dirty="0" err="1" smtClean="0">
                <a:latin typeface="Bahnschrift Light SemiCondensed" pitchFamily="34" charset="0"/>
              </a:rPr>
              <a:t>java.util.Scanner</a:t>
            </a:r>
            <a:r>
              <a:rPr lang="en-US" dirty="0" smtClean="0">
                <a:latin typeface="Bahnschrift Light SemiCondensed" pitchFamily="34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public class </a:t>
            </a:r>
            <a:r>
              <a:rPr lang="en-US" dirty="0" err="1" smtClean="0">
                <a:latin typeface="Bahnschrift Light SemiCondensed" pitchFamily="34" charset="0"/>
              </a:rPr>
              <a:t>RecursionProgram</a:t>
            </a:r>
            <a:r>
              <a:rPr lang="en-US" dirty="0" smtClean="0">
                <a:latin typeface="Bahnschrift Light SemiCondensed" pitchFamily="34" charset="0"/>
              </a:rPr>
              <a:t> {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public </a:t>
            </a:r>
            <a:r>
              <a:rPr lang="en-US" dirty="0" err="1" smtClean="0">
                <a:latin typeface="Bahnschrift Light SemiCondensed" pitchFamily="34" charset="0"/>
              </a:rPr>
              <a:t>int</a:t>
            </a:r>
            <a:r>
              <a:rPr lang="en-US" dirty="0" smtClean="0">
                <a:latin typeface="Bahnschrift Light SemiCondensed" pitchFamily="34" charset="0"/>
              </a:rPr>
              <a:t> factorial(</a:t>
            </a:r>
            <a:r>
              <a:rPr lang="en-US" dirty="0" err="1" smtClean="0">
                <a:latin typeface="Bahnschrift Light SemiCondensed" pitchFamily="34" charset="0"/>
              </a:rPr>
              <a:t>int</a:t>
            </a:r>
            <a:r>
              <a:rPr lang="en-US" dirty="0" smtClean="0">
                <a:latin typeface="Bahnschrift Light SemiCondensed" pitchFamily="34" charset="0"/>
              </a:rPr>
              <a:t> n){ 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if(n==0 || n==1){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    return 1; 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} else{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    return n*factorial(n-1);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    }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public static void main(String[] </a:t>
            </a:r>
            <a:r>
              <a:rPr lang="en-US" dirty="0" err="1" smtClean="0">
                <a:latin typeface="Bahnschrift Light SemiCondensed" pitchFamily="34" charset="0"/>
              </a:rPr>
              <a:t>args</a:t>
            </a:r>
            <a:r>
              <a:rPr lang="en-US" dirty="0" smtClean="0">
                <a:latin typeface="Bahnschrift Light SemiCondensed" pitchFamily="34" charset="0"/>
              </a:rPr>
              <a:t>){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Scanner sc = new Scanner(</a:t>
            </a:r>
            <a:r>
              <a:rPr lang="en-US" dirty="0" err="1" smtClean="0">
                <a:latin typeface="Bahnschrift Light SemiCondensed" pitchFamily="34" charset="0"/>
              </a:rPr>
              <a:t>System.in</a:t>
            </a:r>
            <a:r>
              <a:rPr lang="en-US" dirty="0" smtClean="0">
                <a:latin typeface="Bahnschrift Light SemiCondensed" pitchFamily="34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err="1" smtClean="0">
                <a:latin typeface="Bahnschrift Light SemiCondensed" pitchFamily="34" charset="0"/>
              </a:rPr>
              <a:t>int</a:t>
            </a:r>
            <a:r>
              <a:rPr lang="en-US" dirty="0" smtClean="0">
                <a:latin typeface="Bahnschrift Light SemiCondensed" pitchFamily="34" charset="0"/>
              </a:rPr>
              <a:t> b = </a:t>
            </a:r>
            <a:r>
              <a:rPr lang="en-US" dirty="0" err="1" smtClean="0">
                <a:latin typeface="Bahnschrift Light SemiCondensed" pitchFamily="34" charset="0"/>
              </a:rPr>
              <a:t>sc.nextInt</a:t>
            </a:r>
            <a:r>
              <a:rPr lang="en-US" dirty="0" smtClean="0">
                <a:latin typeface="Bahnschrift Light SemiCondensed" pitchFamily="34" charset="0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err="1" smtClean="0">
                <a:latin typeface="Bahnschrift Light SemiCondensed" pitchFamily="34" charset="0"/>
              </a:rPr>
              <a:t>RecursionProgram</a:t>
            </a:r>
            <a:r>
              <a:rPr lang="en-US" dirty="0" smtClean="0">
                <a:latin typeface="Bahnschrift Light SemiCondensed" pitchFamily="34" charset="0"/>
              </a:rPr>
              <a:t> ob = new </a:t>
            </a:r>
            <a:r>
              <a:rPr lang="en-US" dirty="0" err="1" smtClean="0">
                <a:latin typeface="Bahnschrift Light SemiCondensed" pitchFamily="34" charset="0"/>
              </a:rPr>
              <a:t>RecursionProgram</a:t>
            </a:r>
            <a:r>
              <a:rPr lang="en-US" dirty="0" smtClean="0">
                <a:latin typeface="Bahnschrift Light SemiCondensed" pitchFamily="34" charset="0"/>
              </a:rPr>
              <a:t>(); </a:t>
            </a:r>
            <a:endParaRPr lang="en-US" dirty="0" smtClean="0">
              <a:latin typeface="Bahnschrift Light SemiCondensed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</a:t>
            </a:r>
            <a:r>
              <a:rPr lang="en-US" dirty="0" err="1" smtClean="0">
                <a:latin typeface="Bahnschrift Light SemiCondensed" pitchFamily="34" charset="0"/>
              </a:rPr>
              <a:t>System.out.println</a:t>
            </a:r>
            <a:r>
              <a:rPr lang="en-US" dirty="0" smtClean="0">
                <a:latin typeface="Bahnschrift Light SemiCondensed" pitchFamily="34" charset="0"/>
              </a:rPr>
              <a:t>("Factorial of " + b + " is: " +</a:t>
            </a:r>
            <a:r>
              <a:rPr lang="en-US" dirty="0" err="1" smtClean="0">
                <a:latin typeface="Bahnschrift Light SemiCondensed" pitchFamily="34" charset="0"/>
              </a:rPr>
              <a:t>ob.factorial</a:t>
            </a:r>
            <a:r>
              <a:rPr lang="en-US" dirty="0" smtClean="0">
                <a:latin typeface="Bahnschrift Light SemiCondensed" pitchFamily="34" charset="0"/>
              </a:rPr>
              <a:t>(b));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}    }</a:t>
            </a:r>
            <a:endParaRPr lang="en-US" dirty="0">
              <a:latin typeface="Bahnschrift Light SemiCondensed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381000"/>
            <a:ext cx="8610600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ODD OR EVEN PROGRAM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  <a:ea typeface="Ami R" pitchFamily="18" charset="-127"/>
              </a:rPr>
              <a:t>import </a:t>
            </a:r>
            <a:r>
              <a:rPr lang="en-US" dirty="0" err="1" smtClean="0">
                <a:latin typeface="Bahnschrift Light SemiCondensed" pitchFamily="34" charset="0"/>
                <a:ea typeface="Ami R" pitchFamily="18" charset="-127"/>
              </a:rPr>
              <a:t>java.util.Scanner</a:t>
            </a:r>
            <a:r>
              <a:rPr lang="en-US" dirty="0" smtClean="0">
                <a:latin typeface="Bahnschrift Light SemiCondensed" pitchFamily="34" charset="0"/>
                <a:ea typeface="Ami R" pitchFamily="18" charset="-127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  <a:ea typeface="Ami R" pitchFamily="18" charset="-127"/>
              </a:rPr>
              <a:t>class Main {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  <a:ea typeface="Ami R" pitchFamily="18" charset="-127"/>
              </a:rPr>
              <a:t>    public static void main(String[] </a:t>
            </a:r>
            <a:r>
              <a:rPr lang="en-US" dirty="0" err="1" smtClean="0">
                <a:latin typeface="Bahnschrift Light SemiCondensed" pitchFamily="34" charset="0"/>
                <a:ea typeface="Ami R" pitchFamily="18" charset="-127"/>
              </a:rPr>
              <a:t>args</a:t>
            </a:r>
            <a:r>
              <a:rPr lang="en-US" dirty="0" smtClean="0">
                <a:latin typeface="Bahnschrift Light SemiCondensed" pitchFamily="34" charset="0"/>
                <a:ea typeface="Ami R" pitchFamily="18" charset="-127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  <a:ea typeface="Ami R" pitchFamily="18" charset="-127"/>
              </a:rPr>
              <a:t>        Scanner sc = new Scanner(</a:t>
            </a:r>
            <a:r>
              <a:rPr lang="en-US" dirty="0" err="1" smtClean="0">
                <a:latin typeface="Bahnschrift Light SemiCondensed" pitchFamily="34" charset="0"/>
                <a:ea typeface="Ami R" pitchFamily="18" charset="-127"/>
              </a:rPr>
              <a:t>System.in</a:t>
            </a:r>
            <a:r>
              <a:rPr lang="en-US" dirty="0" smtClean="0">
                <a:latin typeface="Bahnschrift Light SemiCondensed" pitchFamily="34" charset="0"/>
                <a:ea typeface="Ami R" pitchFamily="18" charset="-127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  <a:ea typeface="Ami R" pitchFamily="18" charset="-127"/>
              </a:rPr>
              <a:t>        </a:t>
            </a:r>
            <a:r>
              <a:rPr lang="en-US" dirty="0" err="1" smtClean="0">
                <a:latin typeface="Bahnschrift Light SemiCondensed" pitchFamily="34" charset="0"/>
                <a:ea typeface="Ami R" pitchFamily="18" charset="-127"/>
              </a:rPr>
              <a:t>int</a:t>
            </a:r>
            <a:r>
              <a:rPr lang="en-US" dirty="0" smtClean="0">
                <a:latin typeface="Bahnschrift Light SemiCondensed" pitchFamily="34" charset="0"/>
                <a:ea typeface="Ami R" pitchFamily="18" charset="-127"/>
              </a:rPr>
              <a:t> a = </a:t>
            </a:r>
            <a:r>
              <a:rPr lang="en-US" dirty="0" err="1" smtClean="0">
                <a:latin typeface="Bahnschrift Light SemiCondensed" pitchFamily="34" charset="0"/>
                <a:ea typeface="Ami R" pitchFamily="18" charset="-127"/>
              </a:rPr>
              <a:t>sc.nextInt</a:t>
            </a:r>
            <a:r>
              <a:rPr lang="en-US" dirty="0" smtClean="0">
                <a:latin typeface="Bahnschrift Light SemiCondensed" pitchFamily="34" charset="0"/>
                <a:ea typeface="Ami R" pitchFamily="18" charset="-127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  <a:ea typeface="Ami R" pitchFamily="18" charset="-127"/>
              </a:rPr>
              <a:t>        if(a%2==0){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  <a:ea typeface="Ami R" pitchFamily="18" charset="-127"/>
              </a:rPr>
              <a:t>               </a:t>
            </a:r>
            <a:r>
              <a:rPr lang="en-US" dirty="0" err="1" smtClean="0">
                <a:latin typeface="Bahnschrift Light SemiCondensed" pitchFamily="34" charset="0"/>
                <a:ea typeface="Ami R" pitchFamily="18" charset="-127"/>
              </a:rPr>
              <a:t>System.out.println</a:t>
            </a:r>
            <a:r>
              <a:rPr lang="en-US" dirty="0" smtClean="0">
                <a:latin typeface="Bahnschrift Light SemiCondensed" pitchFamily="34" charset="0"/>
                <a:ea typeface="Ami R" pitchFamily="18" charset="-127"/>
              </a:rPr>
              <a:t>("The given number is even");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  <a:ea typeface="Ami R" pitchFamily="18" charset="-127"/>
              </a:rPr>
              <a:t>    } else{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  <a:ea typeface="Ami R" pitchFamily="18" charset="-127"/>
              </a:rPr>
              <a:t>        </a:t>
            </a:r>
            <a:r>
              <a:rPr lang="en-US" dirty="0" err="1" smtClean="0">
                <a:latin typeface="Bahnschrift Light SemiCondensed" pitchFamily="34" charset="0"/>
                <a:ea typeface="Ami R" pitchFamily="18" charset="-127"/>
              </a:rPr>
              <a:t>System.out.println</a:t>
            </a:r>
            <a:r>
              <a:rPr lang="en-US" dirty="0" smtClean="0">
                <a:latin typeface="Bahnschrift Light SemiCondensed" pitchFamily="34" charset="0"/>
                <a:ea typeface="Ami R" pitchFamily="18" charset="-127"/>
              </a:rPr>
              <a:t>("The given number is odd");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  <a:ea typeface="Ami R" pitchFamily="18" charset="-127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  <a:ea typeface="Ami R" pitchFamily="18" charset="-127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  <a:ea typeface="Ami R" pitchFamily="18" charset="-127"/>
              </a:rPr>
              <a:t>        }</a:t>
            </a:r>
            <a:endParaRPr lang="en-US" dirty="0">
              <a:latin typeface="Bahnschrift Light SemiCondensed" pitchFamily="34" charset="0"/>
              <a:ea typeface="Ami R" pitchFamily="18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077200" cy="6601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+mj-lt"/>
              </a:rPr>
              <a:t>STUDENT INFORMATION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class </a:t>
            </a:r>
            <a:r>
              <a:rPr lang="en-US" dirty="0" smtClean="0">
                <a:latin typeface="Bahnschrift Light SemiCondensed" pitchFamily="34" charset="0"/>
              </a:rPr>
              <a:t>Student </a:t>
            </a:r>
            <a:r>
              <a:rPr lang="en-US" dirty="0" smtClean="0">
                <a:latin typeface="Bahnschrift Light SemiCondensed" pitchFamily="34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</a:t>
            </a:r>
            <a:r>
              <a:rPr lang="en-US" dirty="0" smtClean="0">
                <a:latin typeface="Bahnschrift Light SemiCondensed" pitchFamily="34" charset="0"/>
              </a:rPr>
              <a:t>String name</a:t>
            </a:r>
            <a:r>
              <a:rPr lang="en-US" dirty="0" smtClean="0">
                <a:latin typeface="Bahnschrift Light SemiCondensed" pitchFamily="34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</a:t>
            </a:r>
            <a:r>
              <a:rPr lang="en-US" dirty="0" err="1" smtClean="0">
                <a:latin typeface="Bahnschrift Light SemiCondensed" pitchFamily="34" charset="0"/>
              </a:rPr>
              <a:t>int</a:t>
            </a:r>
            <a:r>
              <a:rPr lang="en-US" dirty="0" smtClean="0">
                <a:latin typeface="Bahnschrift Light SemiCondensed" pitchFamily="34" charset="0"/>
              </a:rPr>
              <a:t> </a:t>
            </a:r>
            <a:r>
              <a:rPr lang="en-US" dirty="0" err="1" smtClean="0">
                <a:latin typeface="Bahnschrift Light SemiCondensed" pitchFamily="34" charset="0"/>
              </a:rPr>
              <a:t>rollNo</a:t>
            </a:r>
            <a:r>
              <a:rPr lang="en-US" dirty="0" smtClean="0">
                <a:latin typeface="Bahnschrift Light SemiCondensed" pitchFamily="34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</a:t>
            </a:r>
            <a:r>
              <a:rPr lang="en-US" dirty="0" smtClean="0">
                <a:latin typeface="Bahnschrift Light SemiCondensed" pitchFamily="34" charset="0"/>
              </a:rPr>
              <a:t>float marks</a:t>
            </a:r>
            <a:r>
              <a:rPr lang="en-US" dirty="0" smtClean="0">
                <a:latin typeface="Bahnschrift Light SemiCondensed" pitchFamily="34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</a:t>
            </a:r>
            <a:r>
              <a:rPr lang="en-US" dirty="0" smtClean="0">
                <a:latin typeface="Bahnschrift Light SemiCondensed" pitchFamily="34" charset="0"/>
              </a:rPr>
              <a:t>void display() </a:t>
            </a:r>
            <a:r>
              <a:rPr lang="en-US" dirty="0" smtClean="0">
                <a:latin typeface="Bahnschrift Light SemiCondensed" pitchFamily="34" charset="0"/>
              </a:rPr>
              <a:t>{ 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err="1" smtClean="0">
                <a:latin typeface="Bahnschrift Light SemiCondensed" pitchFamily="34" charset="0"/>
              </a:rPr>
              <a:t>System.out.println</a:t>
            </a:r>
            <a:r>
              <a:rPr lang="en-US" dirty="0" smtClean="0">
                <a:latin typeface="Bahnschrift Light SemiCondensed" pitchFamily="34" charset="0"/>
              </a:rPr>
              <a:t>("Name: " + name); </a:t>
            </a:r>
            <a:endParaRPr lang="en-US" dirty="0" smtClean="0">
              <a:latin typeface="Bahnschrift Light SemiCondensed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</a:t>
            </a:r>
            <a:r>
              <a:rPr lang="en-US" dirty="0" err="1" smtClean="0">
                <a:latin typeface="Bahnschrift Light SemiCondensed" pitchFamily="34" charset="0"/>
              </a:rPr>
              <a:t>System.out.println</a:t>
            </a:r>
            <a:r>
              <a:rPr lang="en-US" dirty="0" smtClean="0">
                <a:latin typeface="Bahnschrift Light SemiCondensed" pitchFamily="34" charset="0"/>
              </a:rPr>
              <a:t>("Roll No: " + </a:t>
            </a:r>
            <a:r>
              <a:rPr lang="en-US" dirty="0" err="1" smtClean="0">
                <a:latin typeface="Bahnschrift Light SemiCondensed" pitchFamily="34" charset="0"/>
              </a:rPr>
              <a:t>rollNo</a:t>
            </a:r>
            <a:r>
              <a:rPr lang="en-US" dirty="0" smtClean="0">
                <a:latin typeface="Bahnschrift Light SemiCondensed" pitchFamily="34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</a:t>
            </a:r>
            <a:r>
              <a:rPr lang="en-US" dirty="0" err="1" smtClean="0">
                <a:latin typeface="Bahnschrift Light SemiCondensed" pitchFamily="34" charset="0"/>
              </a:rPr>
              <a:t>System.out.println</a:t>
            </a:r>
            <a:r>
              <a:rPr lang="en-US" dirty="0" smtClean="0">
                <a:latin typeface="Bahnschrift Light SemiCondensed" pitchFamily="34" charset="0"/>
              </a:rPr>
              <a:t>("Marks: " + marks</a:t>
            </a:r>
            <a:r>
              <a:rPr lang="en-US" dirty="0" smtClean="0">
                <a:latin typeface="Bahnschrift Light SemiCondensed" pitchFamily="34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}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public </a:t>
            </a:r>
            <a:r>
              <a:rPr lang="en-US" dirty="0" smtClean="0">
                <a:latin typeface="Bahnschrift Light SemiCondensed" pitchFamily="34" charset="0"/>
              </a:rPr>
              <a:t>class </a:t>
            </a:r>
            <a:r>
              <a:rPr lang="en-US" dirty="0" err="1" smtClean="0">
                <a:latin typeface="Bahnschrift Light SemiCondensed" pitchFamily="34" charset="0"/>
              </a:rPr>
              <a:t>StudentInfo</a:t>
            </a:r>
            <a:r>
              <a:rPr lang="en-US" dirty="0" smtClean="0">
                <a:latin typeface="Bahnschrift Light SemiCondensed" pitchFamily="34" charset="0"/>
              </a:rPr>
              <a:t> </a:t>
            </a:r>
            <a:r>
              <a:rPr lang="en-US" dirty="0" smtClean="0">
                <a:latin typeface="Bahnschrift Light SemiCondensed" pitchFamily="34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</a:t>
            </a:r>
            <a:r>
              <a:rPr lang="en-US" dirty="0" smtClean="0">
                <a:latin typeface="Bahnschrift Light SemiCondensed" pitchFamily="34" charset="0"/>
              </a:rPr>
              <a:t>public static void main(String[] </a:t>
            </a:r>
            <a:r>
              <a:rPr lang="en-US" dirty="0" err="1" smtClean="0">
                <a:latin typeface="Bahnschrift Light SemiCondensed" pitchFamily="34" charset="0"/>
              </a:rPr>
              <a:t>args</a:t>
            </a:r>
            <a:r>
              <a:rPr lang="en-US" dirty="0" smtClean="0">
                <a:latin typeface="Bahnschrift Light SemiCondensed" pitchFamily="34" charset="0"/>
              </a:rPr>
              <a:t>) </a:t>
            </a:r>
            <a:r>
              <a:rPr lang="en-US" dirty="0" smtClean="0">
                <a:latin typeface="Bahnschrift Light SemiCondensed" pitchFamily="34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smtClean="0">
                <a:latin typeface="Bahnschrift Light SemiCondensed" pitchFamily="34" charset="0"/>
              </a:rPr>
              <a:t>Student s1 = new Student(); </a:t>
            </a:r>
            <a:endParaRPr lang="en-US" dirty="0" smtClean="0">
              <a:latin typeface="Bahnschrift Light SemiCondensed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</a:t>
            </a:r>
            <a:r>
              <a:rPr lang="en-US" dirty="0" smtClean="0">
                <a:latin typeface="Bahnschrift Light SemiCondensed" pitchFamily="34" charset="0"/>
              </a:rPr>
              <a:t>s1.name = "Alice</a:t>
            </a:r>
            <a:r>
              <a:rPr lang="en-US" dirty="0" smtClean="0">
                <a:latin typeface="Bahnschrift Light SemiCondensed" pitchFamily="34" charset="0"/>
              </a:rPr>
              <a:t>";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</a:t>
            </a:r>
            <a:endParaRPr lang="en-US" dirty="0">
              <a:latin typeface="Bahnschrift Light SemiCondensed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304800"/>
            <a:ext cx="6400800" cy="4063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>
              <a:latin typeface="Bahnschrift Light SemiCondensed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s1.rollNo = 101;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s1.marks = 89.5f;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Student s2 = new Student();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s2.name = "Bob";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s2.rollNo = 102;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s2.marks = 91.0f;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s1.display();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s2.display();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}  }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0"/>
            <a:ext cx="7924800" cy="7155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</a:t>
            </a:r>
            <a:r>
              <a:rPr lang="en-US" b="1" dirty="0" smtClean="0">
                <a:latin typeface="+mj-lt"/>
              </a:rPr>
              <a:t>BANK ACCOUNT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class </a:t>
            </a:r>
            <a:r>
              <a:rPr lang="en-US" dirty="0" err="1" smtClean="0">
                <a:latin typeface="Bahnschrift Light SemiCondensed" pitchFamily="34" charset="0"/>
              </a:rPr>
              <a:t>BankAccount</a:t>
            </a:r>
            <a:r>
              <a:rPr lang="en-US" dirty="0" smtClean="0">
                <a:latin typeface="Bahnschrift Light SemiCondensed" pitchFamily="34" charset="0"/>
              </a:rPr>
              <a:t> </a:t>
            </a:r>
            <a:r>
              <a:rPr lang="en-US" dirty="0" smtClean="0">
                <a:latin typeface="Bahnschrift Light SemiCondensed" pitchFamily="34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</a:t>
            </a:r>
            <a:r>
              <a:rPr lang="en-US" dirty="0" smtClean="0">
                <a:latin typeface="Bahnschrift Light SemiCondensed" pitchFamily="34" charset="0"/>
              </a:rPr>
              <a:t>private String </a:t>
            </a:r>
            <a:r>
              <a:rPr lang="en-US" dirty="0" err="1" smtClean="0">
                <a:latin typeface="Bahnschrift Light SemiCondensed" pitchFamily="34" charset="0"/>
              </a:rPr>
              <a:t>accountNumber</a:t>
            </a:r>
            <a:r>
              <a:rPr lang="en-US" dirty="0" smtClean="0">
                <a:latin typeface="Bahnschrift Light SemiCondensed" pitchFamily="34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</a:t>
            </a:r>
            <a:r>
              <a:rPr lang="en-US" dirty="0" smtClean="0">
                <a:latin typeface="Bahnschrift Light SemiCondensed" pitchFamily="34" charset="0"/>
              </a:rPr>
              <a:t>private String </a:t>
            </a:r>
            <a:r>
              <a:rPr lang="en-US" dirty="0" err="1" smtClean="0">
                <a:latin typeface="Bahnschrift Light SemiCondensed" pitchFamily="34" charset="0"/>
              </a:rPr>
              <a:t>holderName</a:t>
            </a:r>
            <a:r>
              <a:rPr lang="en-US" dirty="0" smtClean="0">
                <a:latin typeface="Bahnschrift Light SemiCondensed" pitchFamily="34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</a:t>
            </a:r>
            <a:r>
              <a:rPr lang="en-US" dirty="0" smtClean="0">
                <a:latin typeface="Bahnschrift Light SemiCondensed" pitchFamily="34" charset="0"/>
              </a:rPr>
              <a:t>private double balance</a:t>
            </a:r>
            <a:r>
              <a:rPr lang="en-US" dirty="0" smtClean="0">
                <a:latin typeface="Bahnschrift Light SemiCondensed" pitchFamily="34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public </a:t>
            </a:r>
            <a:r>
              <a:rPr lang="en-US" dirty="0" err="1" smtClean="0">
                <a:latin typeface="Bahnschrift Light SemiCondensed" pitchFamily="34" charset="0"/>
              </a:rPr>
              <a:t>BankAccount</a:t>
            </a:r>
            <a:r>
              <a:rPr lang="en-US" dirty="0" smtClean="0">
                <a:latin typeface="Bahnschrift Light SemiCondensed" pitchFamily="34" charset="0"/>
              </a:rPr>
              <a:t>(String </a:t>
            </a:r>
            <a:r>
              <a:rPr lang="en-US" dirty="0" err="1" smtClean="0">
                <a:latin typeface="Bahnschrift Light SemiCondensed" pitchFamily="34" charset="0"/>
              </a:rPr>
              <a:t>accountNumber</a:t>
            </a:r>
            <a:r>
              <a:rPr lang="en-US" dirty="0" smtClean="0">
                <a:latin typeface="Bahnschrift Light SemiCondensed" pitchFamily="34" charset="0"/>
              </a:rPr>
              <a:t>, String </a:t>
            </a:r>
            <a:r>
              <a:rPr lang="en-US" dirty="0" err="1" smtClean="0">
                <a:latin typeface="Bahnschrift Light SemiCondensed" pitchFamily="34" charset="0"/>
              </a:rPr>
              <a:t>holderName</a:t>
            </a:r>
            <a:r>
              <a:rPr lang="en-US" dirty="0" smtClean="0">
                <a:latin typeface="Bahnschrift Light SemiCondensed" pitchFamily="34" charset="0"/>
              </a:rPr>
              <a:t>, double balance) </a:t>
            </a:r>
            <a:r>
              <a:rPr lang="en-US" dirty="0" smtClean="0">
                <a:latin typeface="Bahnschrift Light SemiCondensed" pitchFamily="34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err="1" smtClean="0">
                <a:latin typeface="Bahnschrift Light SemiCondensed" pitchFamily="34" charset="0"/>
              </a:rPr>
              <a:t>this.accountNumber</a:t>
            </a:r>
            <a:r>
              <a:rPr lang="en-US" dirty="0" smtClean="0">
                <a:latin typeface="Bahnschrift Light SemiCondensed" pitchFamily="34" charset="0"/>
              </a:rPr>
              <a:t> = </a:t>
            </a:r>
            <a:r>
              <a:rPr lang="en-US" dirty="0" err="1" smtClean="0">
                <a:latin typeface="Bahnschrift Light SemiCondensed" pitchFamily="34" charset="0"/>
              </a:rPr>
              <a:t>accountNumber</a:t>
            </a:r>
            <a:r>
              <a:rPr lang="en-US" dirty="0" smtClean="0">
                <a:latin typeface="Bahnschrift Light SemiCondensed" pitchFamily="34" charset="0"/>
              </a:rPr>
              <a:t>; </a:t>
            </a:r>
            <a:endParaRPr lang="en-US" dirty="0" smtClean="0">
              <a:latin typeface="Bahnschrift Light SemiCondensed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</a:t>
            </a:r>
            <a:r>
              <a:rPr lang="en-US" dirty="0" err="1" smtClean="0">
                <a:latin typeface="Bahnschrift Light SemiCondensed" pitchFamily="34" charset="0"/>
              </a:rPr>
              <a:t>this.holderName</a:t>
            </a:r>
            <a:r>
              <a:rPr lang="en-US" dirty="0" smtClean="0">
                <a:latin typeface="Bahnschrift Light SemiCondensed" pitchFamily="34" charset="0"/>
              </a:rPr>
              <a:t> = </a:t>
            </a:r>
            <a:r>
              <a:rPr lang="en-US" dirty="0" err="1" smtClean="0">
                <a:latin typeface="Bahnschrift Light SemiCondensed" pitchFamily="34" charset="0"/>
              </a:rPr>
              <a:t>holderName</a:t>
            </a:r>
            <a:r>
              <a:rPr lang="en-US" dirty="0" smtClean="0">
                <a:latin typeface="Bahnschrift Light SemiCondensed" pitchFamily="34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err="1" smtClean="0">
                <a:latin typeface="Bahnschrift Light SemiCondensed" pitchFamily="34" charset="0"/>
              </a:rPr>
              <a:t>this.balance</a:t>
            </a:r>
            <a:r>
              <a:rPr lang="en-US" dirty="0" smtClean="0">
                <a:latin typeface="Bahnschrift Light SemiCondensed" pitchFamily="34" charset="0"/>
              </a:rPr>
              <a:t> = balance</a:t>
            </a:r>
            <a:r>
              <a:rPr lang="en-US" dirty="0" smtClean="0">
                <a:latin typeface="Bahnschrift Light SemiCondensed" pitchFamily="34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public void deposit(double amount) </a:t>
            </a:r>
            <a:r>
              <a:rPr lang="en-US" dirty="0" smtClean="0">
                <a:latin typeface="Bahnschrift Light SemiCondensed" pitchFamily="34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smtClean="0">
                <a:latin typeface="Bahnschrift Light SemiCondensed" pitchFamily="34" charset="0"/>
              </a:rPr>
              <a:t>balance += amount; </a:t>
            </a:r>
            <a:endParaRPr lang="en-US" dirty="0" smtClean="0">
              <a:latin typeface="Bahnschrift Light SemiCondensed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</a:t>
            </a:r>
            <a:r>
              <a:rPr lang="en-US" dirty="0" err="1" smtClean="0">
                <a:latin typeface="Bahnschrift Light SemiCondensed" pitchFamily="34" charset="0"/>
              </a:rPr>
              <a:t>System.out.println</a:t>
            </a:r>
            <a:r>
              <a:rPr lang="en-US" dirty="0" smtClean="0">
                <a:latin typeface="Bahnschrift Light SemiCondensed" pitchFamily="34" charset="0"/>
              </a:rPr>
              <a:t>(amount + " deposited</a:t>
            </a:r>
            <a:r>
              <a:rPr lang="en-US" dirty="0" smtClean="0">
                <a:latin typeface="Bahnschrift Light SemiCondensed" pitchFamily="34" charset="0"/>
              </a:rPr>
              <a:t>.");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</a:t>
            </a:r>
            <a:r>
              <a:rPr lang="en-US" dirty="0" smtClean="0">
                <a:latin typeface="Bahnschrift Light SemiCondensed" pitchFamily="34" charset="0"/>
              </a:rPr>
              <a:t>}    public void withdraw(double amount) </a:t>
            </a:r>
            <a:r>
              <a:rPr lang="en-US" dirty="0" smtClean="0">
                <a:latin typeface="Bahnschrift Light SemiCondensed" pitchFamily="34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smtClean="0">
                <a:latin typeface="Bahnschrift Light SemiCondensed" pitchFamily="34" charset="0"/>
              </a:rPr>
              <a:t>if (amount &lt;= balance) </a:t>
            </a:r>
            <a:r>
              <a:rPr lang="en-US" dirty="0" smtClean="0">
                <a:latin typeface="Bahnschrift Light SemiCondensed" pitchFamily="34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    </a:t>
            </a:r>
            <a:r>
              <a:rPr lang="en-US" dirty="0" smtClean="0">
                <a:latin typeface="Bahnschrift Light SemiCondensed" pitchFamily="34" charset="0"/>
              </a:rPr>
              <a:t>balance -= </a:t>
            </a:r>
            <a:r>
              <a:rPr lang="en-US" dirty="0" smtClean="0">
                <a:latin typeface="Bahnschrift Light SemiCondensed" pitchFamily="34" charset="0"/>
              </a:rPr>
              <a:t>amount;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</a:t>
            </a:r>
            <a:endParaRPr lang="en-US" dirty="0">
              <a:latin typeface="Bahnschrift Light SemiCondensed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304800"/>
            <a:ext cx="86868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latin typeface="Bahnschrift Light SemiCondensed" pitchFamily="34" charset="0"/>
              </a:rPr>
              <a:t>System.out.println</a:t>
            </a:r>
            <a:r>
              <a:rPr lang="en-US" dirty="0" smtClean="0">
                <a:latin typeface="Bahnschrift Light SemiCondensed" pitchFamily="34" charset="0"/>
              </a:rPr>
              <a:t>(amount </a:t>
            </a:r>
            <a:r>
              <a:rPr lang="en-US" dirty="0" smtClean="0">
                <a:latin typeface="Bahnschrift Light SemiCondensed" pitchFamily="34" charset="0"/>
              </a:rPr>
              <a:t>+ " withdrawn</a:t>
            </a:r>
            <a:r>
              <a:rPr lang="en-US" dirty="0" smtClean="0">
                <a:latin typeface="Bahnschrift Light SemiCondensed" pitchFamily="34" charset="0"/>
              </a:rPr>
              <a:t>.");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smtClean="0">
                <a:latin typeface="Bahnschrift Light SemiCondensed" pitchFamily="34" charset="0"/>
              </a:rPr>
              <a:t>} else </a:t>
            </a:r>
            <a:r>
              <a:rPr lang="en-US" dirty="0" smtClean="0">
                <a:latin typeface="Bahnschrift Light SemiCondensed" pitchFamily="34" charset="0"/>
              </a:rPr>
              <a:t>{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        </a:t>
            </a:r>
            <a:r>
              <a:rPr lang="en-US" dirty="0" err="1" smtClean="0">
                <a:latin typeface="Bahnschrift Light SemiCondensed" pitchFamily="34" charset="0"/>
              </a:rPr>
              <a:t>System.out.println</a:t>
            </a:r>
            <a:r>
              <a:rPr lang="en-US" dirty="0" smtClean="0">
                <a:latin typeface="Bahnschrift Light SemiCondensed" pitchFamily="34" charset="0"/>
              </a:rPr>
              <a:t>("Insufficient balance."); </a:t>
            </a:r>
            <a:endParaRPr lang="en-US" dirty="0" smtClean="0">
              <a:latin typeface="Bahnschrift Light SemiCondensed" pitchFamily="34" charset="0"/>
            </a:endParaRPr>
          </a:p>
          <a:p>
            <a:r>
              <a:rPr lang="en-US" dirty="0" smtClean="0">
                <a:latin typeface="Bahnschrift Light SemiCondensed" pitchFamily="34" charset="0"/>
              </a:rPr>
              <a:t>       }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}</a:t>
            </a:r>
          </a:p>
          <a:p>
            <a:r>
              <a:rPr lang="en-US" dirty="0" smtClean="0">
                <a:latin typeface="Bahnschrift Light SemiCondensed" pitchFamily="34" charset="0"/>
              </a:rPr>
              <a:t>public void </a:t>
            </a:r>
            <a:r>
              <a:rPr lang="en-US" dirty="0" err="1" smtClean="0">
                <a:latin typeface="Bahnschrift Light SemiCondensed" pitchFamily="34" charset="0"/>
              </a:rPr>
              <a:t>displayBalance</a:t>
            </a:r>
            <a:r>
              <a:rPr lang="en-US" dirty="0" smtClean="0">
                <a:latin typeface="Bahnschrift Light SemiCondensed" pitchFamily="34" charset="0"/>
              </a:rPr>
              <a:t>() </a:t>
            </a:r>
            <a:r>
              <a:rPr lang="en-US" dirty="0" smtClean="0">
                <a:latin typeface="Bahnschrift Light SemiCondensed" pitchFamily="34" charset="0"/>
              </a:rPr>
              <a:t>{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err="1" smtClean="0">
                <a:latin typeface="Bahnschrift Light SemiCondensed" pitchFamily="34" charset="0"/>
              </a:rPr>
              <a:t>System.out.println</a:t>
            </a:r>
            <a:r>
              <a:rPr lang="en-US" dirty="0" smtClean="0">
                <a:latin typeface="Bahnschrift Light SemiCondensed" pitchFamily="34" charset="0"/>
              </a:rPr>
              <a:t>("Account Number: " + </a:t>
            </a:r>
            <a:r>
              <a:rPr lang="en-US" dirty="0" err="1" smtClean="0">
                <a:latin typeface="Bahnschrift Light SemiCondensed" pitchFamily="34" charset="0"/>
              </a:rPr>
              <a:t>accountNumber</a:t>
            </a:r>
            <a:r>
              <a:rPr lang="en-US" dirty="0" smtClean="0">
                <a:latin typeface="Bahnschrift Light SemiCondensed" pitchFamily="34" charset="0"/>
              </a:rPr>
              <a:t>);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err="1" smtClean="0">
                <a:latin typeface="Bahnschrift Light SemiCondensed" pitchFamily="34" charset="0"/>
              </a:rPr>
              <a:t>System.out.println</a:t>
            </a:r>
            <a:r>
              <a:rPr lang="en-US" dirty="0" smtClean="0">
                <a:latin typeface="Bahnschrift Light SemiCondensed" pitchFamily="34" charset="0"/>
              </a:rPr>
              <a:t>("Holder Name: " + </a:t>
            </a:r>
            <a:r>
              <a:rPr lang="en-US" dirty="0" err="1" smtClean="0">
                <a:latin typeface="Bahnschrift Light SemiCondensed" pitchFamily="34" charset="0"/>
              </a:rPr>
              <a:t>holderName</a:t>
            </a:r>
            <a:r>
              <a:rPr lang="en-US" dirty="0" smtClean="0">
                <a:latin typeface="Bahnschrift Light SemiCondensed" pitchFamily="34" charset="0"/>
              </a:rPr>
              <a:t>);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err="1" smtClean="0">
                <a:latin typeface="Bahnschrift Light SemiCondensed" pitchFamily="34" charset="0"/>
              </a:rPr>
              <a:t>System.out.println</a:t>
            </a:r>
            <a:r>
              <a:rPr lang="en-US" dirty="0" smtClean="0">
                <a:latin typeface="Bahnschrift Light SemiCondensed" pitchFamily="34" charset="0"/>
              </a:rPr>
              <a:t>("Balance: " + balance</a:t>
            </a:r>
            <a:r>
              <a:rPr lang="en-US" dirty="0" smtClean="0">
                <a:latin typeface="Bahnschrift Light SemiCondensed" pitchFamily="34" charset="0"/>
              </a:rPr>
              <a:t>);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}</a:t>
            </a:r>
          </a:p>
          <a:p>
            <a:r>
              <a:rPr lang="en-US" dirty="0" smtClean="0">
                <a:latin typeface="Bahnschrift Light SemiCondensed" pitchFamily="34" charset="0"/>
              </a:rPr>
              <a:t>}</a:t>
            </a:r>
          </a:p>
          <a:p>
            <a:r>
              <a:rPr lang="en-US" dirty="0" smtClean="0">
                <a:latin typeface="Bahnschrift Light SemiCondensed" pitchFamily="34" charset="0"/>
              </a:rPr>
              <a:t>public </a:t>
            </a:r>
            <a:r>
              <a:rPr lang="en-US" dirty="0" smtClean="0">
                <a:latin typeface="Bahnschrift Light SemiCondensed" pitchFamily="34" charset="0"/>
              </a:rPr>
              <a:t>class </a:t>
            </a:r>
            <a:r>
              <a:rPr lang="en-US" dirty="0" err="1" smtClean="0">
                <a:latin typeface="Bahnschrift Light SemiCondensed" pitchFamily="34" charset="0"/>
              </a:rPr>
              <a:t>BankTest</a:t>
            </a:r>
            <a:r>
              <a:rPr lang="en-US" dirty="0" smtClean="0">
                <a:latin typeface="Bahnschrift Light SemiCondensed" pitchFamily="34" charset="0"/>
              </a:rPr>
              <a:t> { </a:t>
            </a:r>
            <a:endParaRPr lang="en-US" dirty="0" smtClean="0">
              <a:latin typeface="Bahnschrift Light SemiCondensed" pitchFamily="34" charset="0"/>
            </a:endParaRPr>
          </a:p>
          <a:p>
            <a:r>
              <a:rPr lang="en-US" dirty="0" smtClean="0">
                <a:latin typeface="Bahnschrift Light SemiCondensed" pitchFamily="34" charset="0"/>
              </a:rPr>
              <a:t>   </a:t>
            </a:r>
            <a:r>
              <a:rPr lang="en-US" dirty="0" smtClean="0">
                <a:latin typeface="Bahnschrift Light SemiCondensed" pitchFamily="34" charset="0"/>
              </a:rPr>
              <a:t>public static void main(String[] </a:t>
            </a:r>
            <a:r>
              <a:rPr lang="en-US" dirty="0" err="1" smtClean="0">
                <a:latin typeface="Bahnschrift Light SemiCondensed" pitchFamily="34" charset="0"/>
              </a:rPr>
              <a:t>args</a:t>
            </a:r>
            <a:r>
              <a:rPr lang="en-US" dirty="0" smtClean="0">
                <a:latin typeface="Bahnschrift Light SemiCondensed" pitchFamily="34" charset="0"/>
              </a:rPr>
              <a:t>) </a:t>
            </a:r>
            <a:r>
              <a:rPr lang="en-US" dirty="0" smtClean="0">
                <a:latin typeface="Bahnschrift Light SemiCondensed" pitchFamily="34" charset="0"/>
              </a:rPr>
              <a:t>{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err="1" smtClean="0">
                <a:latin typeface="Bahnschrift Light SemiCondensed" pitchFamily="34" charset="0"/>
              </a:rPr>
              <a:t>BankAccount</a:t>
            </a:r>
            <a:r>
              <a:rPr lang="en-US" dirty="0" smtClean="0">
                <a:latin typeface="Bahnschrift Light SemiCondensed" pitchFamily="34" charset="0"/>
              </a:rPr>
              <a:t> acc = new </a:t>
            </a:r>
            <a:r>
              <a:rPr lang="en-US" dirty="0" err="1" smtClean="0">
                <a:latin typeface="Bahnschrift Light SemiCondensed" pitchFamily="34" charset="0"/>
              </a:rPr>
              <a:t>BankAccount</a:t>
            </a:r>
            <a:r>
              <a:rPr lang="en-US" dirty="0" smtClean="0">
                <a:latin typeface="Bahnschrift Light SemiCondensed" pitchFamily="34" charset="0"/>
              </a:rPr>
              <a:t>("12345", "Charlie", 1000.0);        </a:t>
            </a:r>
            <a:r>
              <a:rPr lang="en-US" dirty="0" smtClean="0">
                <a:latin typeface="Bahnschrift Light SemiCondensed" pitchFamily="34" charset="0"/>
              </a:rPr>
              <a:t>                  </a:t>
            </a:r>
            <a:r>
              <a:rPr lang="en-US" dirty="0" err="1" smtClean="0">
                <a:latin typeface="Bahnschrift Light SemiCondensed" pitchFamily="34" charset="0"/>
              </a:rPr>
              <a:t>acc.displayBalance</a:t>
            </a:r>
            <a:r>
              <a:rPr lang="en-US" dirty="0" smtClean="0">
                <a:latin typeface="Bahnschrift Light SemiCondensed" pitchFamily="34" charset="0"/>
              </a:rPr>
              <a:t>();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err="1" smtClean="0">
                <a:latin typeface="Bahnschrift Light SemiCondensed" pitchFamily="34" charset="0"/>
              </a:rPr>
              <a:t>acc.deposit</a:t>
            </a:r>
            <a:r>
              <a:rPr lang="en-US" dirty="0" smtClean="0">
                <a:latin typeface="Bahnschrift Light SemiCondensed" pitchFamily="34" charset="0"/>
              </a:rPr>
              <a:t>(500.0</a:t>
            </a:r>
            <a:r>
              <a:rPr lang="en-US" dirty="0" smtClean="0">
                <a:latin typeface="Bahnschrift Light SemiCondensed" pitchFamily="34" charset="0"/>
              </a:rPr>
              <a:t>);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err="1" smtClean="0">
                <a:latin typeface="Bahnschrift Light SemiCondensed" pitchFamily="34" charset="0"/>
              </a:rPr>
              <a:t>acc.withdraw</a:t>
            </a:r>
            <a:r>
              <a:rPr lang="en-US" dirty="0" smtClean="0">
                <a:latin typeface="Bahnschrift Light SemiCondensed" pitchFamily="34" charset="0"/>
              </a:rPr>
              <a:t>(200.0</a:t>
            </a:r>
            <a:r>
              <a:rPr lang="en-US" dirty="0" smtClean="0">
                <a:latin typeface="Bahnschrift Light SemiCondensed" pitchFamily="34" charset="0"/>
              </a:rPr>
              <a:t>);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err="1" smtClean="0">
                <a:latin typeface="Bahnschrift Light SemiCondensed" pitchFamily="34" charset="0"/>
              </a:rPr>
              <a:t>acc.displayBalance</a:t>
            </a:r>
            <a:r>
              <a:rPr lang="en-US" dirty="0" smtClean="0">
                <a:latin typeface="Bahnschrift Light SemiCondensed" pitchFamily="34" charset="0"/>
              </a:rPr>
              <a:t>();</a:t>
            </a:r>
          </a:p>
          <a:p>
            <a:r>
              <a:rPr lang="en-US" dirty="0" smtClean="0">
                <a:latin typeface="Bahnschrift Light SemiCondensed" pitchFamily="34" charset="0"/>
              </a:rPr>
              <a:t>    </a:t>
            </a:r>
            <a:r>
              <a:rPr lang="en-US" dirty="0" smtClean="0">
                <a:latin typeface="Bahnschrift Light SemiCondensed" pitchFamily="34" charset="0"/>
              </a:rPr>
              <a:t>}</a:t>
            </a:r>
          </a:p>
          <a:p>
            <a:r>
              <a:rPr lang="en-US" dirty="0" smtClean="0">
                <a:latin typeface="Bahnschrift Light SemiCondensed" pitchFamily="34" charset="0"/>
              </a:rPr>
              <a:t>}</a:t>
            </a:r>
            <a:endParaRPr lang="en-US" dirty="0">
              <a:latin typeface="Bahnschrift Light SemiCondensed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4800" y="0"/>
            <a:ext cx="86868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+mj-lt"/>
              </a:rPr>
              <a:t>INHERITANCE – VEHICLE</a:t>
            </a:r>
          </a:p>
          <a:p>
            <a:r>
              <a:rPr lang="en-US" dirty="0" smtClean="0">
                <a:latin typeface="Bahnschrift Light SemiCondensed" pitchFamily="34" charset="0"/>
              </a:rPr>
              <a:t>class </a:t>
            </a:r>
            <a:r>
              <a:rPr lang="en-US" dirty="0" smtClean="0">
                <a:latin typeface="Bahnschrift Light SemiCondensed" pitchFamily="34" charset="0"/>
              </a:rPr>
              <a:t>Vehicle </a:t>
            </a:r>
            <a:r>
              <a:rPr lang="en-US" dirty="0" smtClean="0">
                <a:latin typeface="Bahnschrift Light SemiCondensed" pitchFamily="34" charset="0"/>
              </a:rPr>
              <a:t>{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</a:t>
            </a:r>
            <a:r>
              <a:rPr lang="en-US" dirty="0" smtClean="0">
                <a:latin typeface="Bahnschrift Light SemiCondensed" pitchFamily="34" charset="0"/>
              </a:rPr>
              <a:t>String brand</a:t>
            </a:r>
            <a:r>
              <a:rPr lang="en-US" dirty="0" smtClean="0">
                <a:latin typeface="Bahnschrift Light SemiCondensed" pitchFamily="34" charset="0"/>
              </a:rPr>
              <a:t>;</a:t>
            </a:r>
          </a:p>
          <a:p>
            <a:r>
              <a:rPr lang="en-US" dirty="0" smtClean="0">
                <a:latin typeface="Bahnschrift Light SemiCondensed" pitchFamily="34" charset="0"/>
              </a:rPr>
              <a:t>   </a:t>
            </a:r>
            <a:r>
              <a:rPr lang="en-US" dirty="0" err="1" smtClean="0">
                <a:latin typeface="Bahnschrift Light SemiCondensed" pitchFamily="34" charset="0"/>
              </a:rPr>
              <a:t>int</a:t>
            </a:r>
            <a:r>
              <a:rPr lang="en-US" dirty="0" smtClean="0">
                <a:latin typeface="Bahnschrift Light SemiCondensed" pitchFamily="34" charset="0"/>
              </a:rPr>
              <a:t> year</a:t>
            </a:r>
            <a:r>
              <a:rPr lang="en-US" dirty="0" smtClean="0">
                <a:latin typeface="Bahnschrift Light SemiCondensed" pitchFamily="34" charset="0"/>
              </a:rPr>
              <a:t>;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</a:t>
            </a:r>
            <a:r>
              <a:rPr lang="en-US" dirty="0" smtClean="0">
                <a:latin typeface="Bahnschrift Light SemiCondensed" pitchFamily="34" charset="0"/>
              </a:rPr>
              <a:t>void </a:t>
            </a:r>
            <a:r>
              <a:rPr lang="en-US" dirty="0" err="1" smtClean="0">
                <a:latin typeface="Bahnschrift Light SemiCondensed" pitchFamily="34" charset="0"/>
              </a:rPr>
              <a:t>displayDetails</a:t>
            </a:r>
            <a:r>
              <a:rPr lang="en-US" dirty="0" smtClean="0">
                <a:latin typeface="Bahnschrift Light SemiCondensed" pitchFamily="34" charset="0"/>
              </a:rPr>
              <a:t>() </a:t>
            </a:r>
            <a:r>
              <a:rPr lang="en-US" dirty="0" smtClean="0">
                <a:latin typeface="Bahnschrift Light SemiCondensed" pitchFamily="34" charset="0"/>
              </a:rPr>
              <a:t>{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err="1" smtClean="0">
                <a:latin typeface="Bahnschrift Light SemiCondensed" pitchFamily="34" charset="0"/>
              </a:rPr>
              <a:t>System.out.println</a:t>
            </a:r>
            <a:r>
              <a:rPr lang="en-US" dirty="0" smtClean="0">
                <a:latin typeface="Bahnschrift Light SemiCondensed" pitchFamily="34" charset="0"/>
              </a:rPr>
              <a:t>("Brand: " + brand</a:t>
            </a:r>
            <a:r>
              <a:rPr lang="en-US" dirty="0" smtClean="0">
                <a:latin typeface="Bahnschrift Light SemiCondensed" pitchFamily="34" charset="0"/>
              </a:rPr>
              <a:t>);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err="1" smtClean="0">
                <a:latin typeface="Bahnschrift Light SemiCondensed" pitchFamily="34" charset="0"/>
              </a:rPr>
              <a:t>System.out.println</a:t>
            </a:r>
            <a:r>
              <a:rPr lang="en-US" dirty="0" smtClean="0">
                <a:latin typeface="Bahnschrift Light SemiCondensed" pitchFamily="34" charset="0"/>
              </a:rPr>
              <a:t>("Year: " + year</a:t>
            </a:r>
            <a:r>
              <a:rPr lang="en-US" dirty="0" smtClean="0">
                <a:latin typeface="Bahnschrift Light SemiCondensed" pitchFamily="34" charset="0"/>
              </a:rPr>
              <a:t>);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}</a:t>
            </a:r>
          </a:p>
          <a:p>
            <a:r>
              <a:rPr lang="en-US" dirty="0" smtClean="0">
                <a:latin typeface="Bahnschrift Light SemiCondensed" pitchFamily="34" charset="0"/>
              </a:rPr>
              <a:t>}</a:t>
            </a:r>
          </a:p>
          <a:p>
            <a:r>
              <a:rPr lang="en-US" dirty="0" smtClean="0">
                <a:latin typeface="Bahnschrift Light SemiCondensed" pitchFamily="34" charset="0"/>
              </a:rPr>
              <a:t>class </a:t>
            </a:r>
            <a:r>
              <a:rPr lang="en-US" dirty="0" smtClean="0">
                <a:latin typeface="Bahnschrift Light SemiCondensed" pitchFamily="34" charset="0"/>
              </a:rPr>
              <a:t>Car extends Vehicle </a:t>
            </a:r>
            <a:r>
              <a:rPr lang="en-US" dirty="0" smtClean="0">
                <a:latin typeface="Bahnschrift Light SemiCondensed" pitchFamily="34" charset="0"/>
              </a:rPr>
              <a:t>{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</a:t>
            </a:r>
            <a:r>
              <a:rPr lang="en-US" dirty="0" smtClean="0">
                <a:latin typeface="Bahnschrift Light SemiCondensed" pitchFamily="34" charset="0"/>
              </a:rPr>
              <a:t>String model</a:t>
            </a:r>
            <a:r>
              <a:rPr lang="en-US" dirty="0" smtClean="0">
                <a:latin typeface="Bahnschrift Light SemiCondensed" pitchFamily="34" charset="0"/>
              </a:rPr>
              <a:t>;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</a:t>
            </a:r>
            <a:r>
              <a:rPr lang="en-US" dirty="0" smtClean="0">
                <a:latin typeface="Bahnschrift Light SemiCondensed" pitchFamily="34" charset="0"/>
              </a:rPr>
              <a:t>void </a:t>
            </a:r>
            <a:r>
              <a:rPr lang="en-US" dirty="0" err="1" smtClean="0">
                <a:latin typeface="Bahnschrift Light SemiCondensed" pitchFamily="34" charset="0"/>
              </a:rPr>
              <a:t>displayCarDetails</a:t>
            </a:r>
            <a:r>
              <a:rPr lang="en-US" dirty="0" smtClean="0">
                <a:latin typeface="Bahnschrift Light SemiCondensed" pitchFamily="34" charset="0"/>
              </a:rPr>
              <a:t>() </a:t>
            </a:r>
            <a:r>
              <a:rPr lang="en-US" dirty="0" smtClean="0">
                <a:latin typeface="Bahnschrift Light SemiCondensed" pitchFamily="34" charset="0"/>
              </a:rPr>
              <a:t>{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err="1" smtClean="0">
                <a:latin typeface="Bahnschrift Light SemiCondensed" pitchFamily="34" charset="0"/>
              </a:rPr>
              <a:t>displayDetails</a:t>
            </a:r>
            <a:r>
              <a:rPr lang="en-US" dirty="0" smtClean="0">
                <a:latin typeface="Bahnschrift Light SemiCondensed" pitchFamily="34" charset="0"/>
              </a:rPr>
              <a:t>();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err="1" smtClean="0">
                <a:latin typeface="Bahnschrift Light SemiCondensed" pitchFamily="34" charset="0"/>
              </a:rPr>
              <a:t>System.out.println</a:t>
            </a:r>
            <a:r>
              <a:rPr lang="en-US" dirty="0" smtClean="0">
                <a:latin typeface="Bahnschrift Light SemiCondensed" pitchFamily="34" charset="0"/>
              </a:rPr>
              <a:t>("Model: " + model</a:t>
            </a:r>
            <a:r>
              <a:rPr lang="en-US" dirty="0" smtClean="0">
                <a:latin typeface="Bahnschrift Light SemiCondensed" pitchFamily="34" charset="0"/>
              </a:rPr>
              <a:t>);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}</a:t>
            </a:r>
          </a:p>
          <a:p>
            <a:r>
              <a:rPr lang="en-US" dirty="0" smtClean="0">
                <a:latin typeface="Bahnschrift Light SemiCondensed" pitchFamily="34" charset="0"/>
              </a:rPr>
              <a:t>}</a:t>
            </a:r>
          </a:p>
          <a:p>
            <a:r>
              <a:rPr lang="en-US" dirty="0" smtClean="0">
                <a:latin typeface="Bahnschrift Light SemiCondensed" pitchFamily="34" charset="0"/>
              </a:rPr>
              <a:t>public </a:t>
            </a:r>
            <a:r>
              <a:rPr lang="en-US" dirty="0" smtClean="0">
                <a:latin typeface="Bahnschrift Light SemiCondensed" pitchFamily="34" charset="0"/>
              </a:rPr>
              <a:t>class </a:t>
            </a:r>
            <a:r>
              <a:rPr lang="en-US" dirty="0" err="1" smtClean="0">
                <a:latin typeface="Bahnschrift Light SemiCondensed" pitchFamily="34" charset="0"/>
              </a:rPr>
              <a:t>VehicleTest</a:t>
            </a:r>
            <a:r>
              <a:rPr lang="en-US" dirty="0" smtClean="0">
                <a:latin typeface="Bahnschrift Light SemiCondensed" pitchFamily="34" charset="0"/>
              </a:rPr>
              <a:t> </a:t>
            </a:r>
            <a:r>
              <a:rPr lang="en-US" dirty="0" smtClean="0">
                <a:latin typeface="Bahnschrift Light SemiCondensed" pitchFamily="34" charset="0"/>
              </a:rPr>
              <a:t>{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</a:t>
            </a:r>
            <a:r>
              <a:rPr lang="en-US" dirty="0" smtClean="0">
                <a:latin typeface="Bahnschrift Light SemiCondensed" pitchFamily="34" charset="0"/>
              </a:rPr>
              <a:t>public static void main(String[] </a:t>
            </a:r>
            <a:r>
              <a:rPr lang="en-US" dirty="0" err="1" smtClean="0">
                <a:latin typeface="Bahnschrift Light SemiCondensed" pitchFamily="34" charset="0"/>
              </a:rPr>
              <a:t>args</a:t>
            </a:r>
            <a:r>
              <a:rPr lang="en-US" dirty="0" smtClean="0">
                <a:latin typeface="Bahnschrift Light SemiCondensed" pitchFamily="34" charset="0"/>
              </a:rPr>
              <a:t>) </a:t>
            </a:r>
            <a:r>
              <a:rPr lang="en-US" dirty="0" smtClean="0">
                <a:latin typeface="Bahnschrift Light SemiCondensed" pitchFamily="34" charset="0"/>
              </a:rPr>
              <a:t>{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smtClean="0">
                <a:latin typeface="Bahnschrift Light SemiCondensed" pitchFamily="34" charset="0"/>
              </a:rPr>
              <a:t>Car </a:t>
            </a:r>
            <a:r>
              <a:rPr lang="en-US" dirty="0" err="1" smtClean="0">
                <a:latin typeface="Bahnschrift Light SemiCondensed" pitchFamily="34" charset="0"/>
              </a:rPr>
              <a:t>myCar</a:t>
            </a:r>
            <a:r>
              <a:rPr lang="en-US" dirty="0" smtClean="0">
                <a:latin typeface="Bahnschrift Light SemiCondensed" pitchFamily="34" charset="0"/>
              </a:rPr>
              <a:t> = new Car</a:t>
            </a:r>
            <a:r>
              <a:rPr lang="en-US" dirty="0" smtClean="0">
                <a:latin typeface="Bahnschrift Light SemiCondensed" pitchFamily="34" charset="0"/>
              </a:rPr>
              <a:t>();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err="1" smtClean="0">
                <a:latin typeface="Bahnschrift Light SemiCondensed" pitchFamily="34" charset="0"/>
              </a:rPr>
              <a:t>myCar.brand</a:t>
            </a:r>
            <a:r>
              <a:rPr lang="en-US" dirty="0" smtClean="0">
                <a:latin typeface="Bahnschrift Light SemiCondensed" pitchFamily="34" charset="0"/>
              </a:rPr>
              <a:t> = "Toyota</a:t>
            </a:r>
            <a:r>
              <a:rPr lang="en-US" dirty="0" smtClean="0">
                <a:latin typeface="Bahnschrift Light SemiCondensed" pitchFamily="34" charset="0"/>
              </a:rPr>
              <a:t>";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err="1" smtClean="0">
                <a:latin typeface="Bahnschrift Light SemiCondensed" pitchFamily="34" charset="0"/>
              </a:rPr>
              <a:t>myCar.year</a:t>
            </a:r>
            <a:r>
              <a:rPr lang="en-US" dirty="0" smtClean="0">
                <a:latin typeface="Bahnschrift Light SemiCondensed" pitchFamily="34" charset="0"/>
              </a:rPr>
              <a:t> = 2021</a:t>
            </a:r>
            <a:r>
              <a:rPr lang="en-US" dirty="0" smtClean="0">
                <a:latin typeface="Bahnschrift Light SemiCondensed" pitchFamily="34" charset="0"/>
              </a:rPr>
              <a:t>;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err="1" smtClean="0">
                <a:latin typeface="Bahnschrift Light SemiCondensed" pitchFamily="34" charset="0"/>
              </a:rPr>
              <a:t>myCar.model</a:t>
            </a:r>
            <a:r>
              <a:rPr lang="en-US" dirty="0" smtClean="0">
                <a:latin typeface="Bahnschrift Light SemiCondensed" pitchFamily="34" charset="0"/>
              </a:rPr>
              <a:t> = "Corolla</a:t>
            </a:r>
            <a:r>
              <a:rPr lang="en-US" dirty="0" smtClean="0">
                <a:latin typeface="Bahnschrift Light SemiCondensed" pitchFamily="34" charset="0"/>
              </a:rPr>
              <a:t>";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err="1" smtClean="0">
                <a:latin typeface="Bahnschrift Light SemiCondensed" pitchFamily="34" charset="0"/>
              </a:rPr>
              <a:t>myCar.displayCarDetails</a:t>
            </a:r>
            <a:r>
              <a:rPr lang="en-US" dirty="0" smtClean="0">
                <a:latin typeface="Bahnschrift Light SemiCondensed" pitchFamily="34" charset="0"/>
              </a:rPr>
              <a:t>(); </a:t>
            </a:r>
            <a:endParaRPr lang="en-US" dirty="0" smtClean="0">
              <a:latin typeface="Bahnschrift Light SemiCondensed" pitchFamily="34" charset="0"/>
            </a:endParaRPr>
          </a:p>
          <a:p>
            <a:r>
              <a:rPr lang="en-US" dirty="0" smtClean="0">
                <a:latin typeface="Bahnschrift Light SemiCondensed" pitchFamily="34" charset="0"/>
              </a:rPr>
              <a:t>   </a:t>
            </a:r>
            <a:r>
              <a:rPr lang="en-US" dirty="0" smtClean="0">
                <a:latin typeface="Bahnschrift Light SemiCondensed" pitchFamily="34" charset="0"/>
              </a:rPr>
              <a:t>}}</a:t>
            </a:r>
            <a:endParaRPr lang="en-US" dirty="0">
              <a:latin typeface="Bahnschrift Light SemiCondensed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228600"/>
            <a:ext cx="868680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INHERITANCE – EMPLOYEE HIERARCHY</a:t>
            </a:r>
          </a:p>
          <a:p>
            <a:r>
              <a:rPr lang="en-US" dirty="0" smtClean="0">
                <a:latin typeface="Bahnschrift Light SemiCondensed" pitchFamily="34" charset="0"/>
              </a:rPr>
              <a:t>class Employee </a:t>
            </a:r>
            <a:r>
              <a:rPr lang="en-US" dirty="0" smtClean="0">
                <a:latin typeface="Bahnschrift Light SemiCondensed" pitchFamily="34" charset="0"/>
              </a:rPr>
              <a:t>{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</a:t>
            </a:r>
            <a:r>
              <a:rPr lang="en-US" dirty="0" smtClean="0">
                <a:latin typeface="Bahnschrift Light SemiCondensed" pitchFamily="34" charset="0"/>
              </a:rPr>
              <a:t>String name</a:t>
            </a:r>
            <a:r>
              <a:rPr lang="en-US" dirty="0" smtClean="0">
                <a:latin typeface="Bahnschrift Light SemiCondensed" pitchFamily="34" charset="0"/>
              </a:rPr>
              <a:t>;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</a:t>
            </a:r>
            <a:r>
              <a:rPr lang="en-US" dirty="0" smtClean="0">
                <a:latin typeface="Bahnschrift Light SemiCondensed" pitchFamily="34" charset="0"/>
              </a:rPr>
              <a:t>double salary</a:t>
            </a:r>
            <a:r>
              <a:rPr lang="en-US" dirty="0" smtClean="0">
                <a:latin typeface="Bahnschrift Light SemiCondensed" pitchFamily="34" charset="0"/>
              </a:rPr>
              <a:t>;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</a:t>
            </a:r>
            <a:r>
              <a:rPr lang="en-US" dirty="0" smtClean="0">
                <a:latin typeface="Bahnschrift Light SemiCondensed" pitchFamily="34" charset="0"/>
              </a:rPr>
              <a:t>void display() </a:t>
            </a:r>
            <a:r>
              <a:rPr lang="en-US" dirty="0" smtClean="0">
                <a:latin typeface="Bahnschrift Light SemiCondensed" pitchFamily="34" charset="0"/>
              </a:rPr>
              <a:t>{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err="1" smtClean="0">
                <a:latin typeface="Bahnschrift Light SemiCondensed" pitchFamily="34" charset="0"/>
              </a:rPr>
              <a:t>System.out.println</a:t>
            </a:r>
            <a:r>
              <a:rPr lang="en-US" dirty="0" smtClean="0">
                <a:latin typeface="Bahnschrift Light SemiCondensed" pitchFamily="34" charset="0"/>
              </a:rPr>
              <a:t>("Name: " + name</a:t>
            </a:r>
            <a:r>
              <a:rPr lang="en-US" dirty="0" smtClean="0">
                <a:latin typeface="Bahnschrift Light SemiCondensed" pitchFamily="34" charset="0"/>
              </a:rPr>
              <a:t>);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err="1" smtClean="0">
                <a:latin typeface="Bahnschrift Light SemiCondensed" pitchFamily="34" charset="0"/>
              </a:rPr>
              <a:t>System.out.println</a:t>
            </a:r>
            <a:r>
              <a:rPr lang="en-US" dirty="0" smtClean="0">
                <a:latin typeface="Bahnschrift Light SemiCondensed" pitchFamily="34" charset="0"/>
              </a:rPr>
              <a:t>("Salary: " + salary</a:t>
            </a:r>
            <a:r>
              <a:rPr lang="en-US" dirty="0" smtClean="0">
                <a:latin typeface="Bahnschrift Light SemiCondensed" pitchFamily="34" charset="0"/>
              </a:rPr>
              <a:t>);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}</a:t>
            </a:r>
          </a:p>
          <a:p>
            <a:r>
              <a:rPr lang="en-US" dirty="0" smtClean="0">
                <a:latin typeface="Bahnschrift Light SemiCondensed" pitchFamily="34" charset="0"/>
              </a:rPr>
              <a:t>}</a:t>
            </a:r>
          </a:p>
          <a:p>
            <a:r>
              <a:rPr lang="en-US" dirty="0" smtClean="0">
                <a:latin typeface="Bahnschrift Light SemiCondensed" pitchFamily="34" charset="0"/>
              </a:rPr>
              <a:t>class </a:t>
            </a:r>
            <a:r>
              <a:rPr lang="en-US" dirty="0" smtClean="0">
                <a:latin typeface="Bahnschrift Light SemiCondensed" pitchFamily="34" charset="0"/>
              </a:rPr>
              <a:t>Manager extends Employee </a:t>
            </a:r>
            <a:r>
              <a:rPr lang="en-US" dirty="0" smtClean="0">
                <a:latin typeface="Bahnschrift Light SemiCondensed" pitchFamily="34" charset="0"/>
              </a:rPr>
              <a:t>{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</a:t>
            </a:r>
            <a:r>
              <a:rPr lang="en-US" dirty="0" smtClean="0">
                <a:latin typeface="Bahnschrift Light SemiCondensed" pitchFamily="34" charset="0"/>
              </a:rPr>
              <a:t>String department</a:t>
            </a:r>
            <a:r>
              <a:rPr lang="en-US" dirty="0" smtClean="0">
                <a:latin typeface="Bahnschrift Light SemiCondensed" pitchFamily="34" charset="0"/>
              </a:rPr>
              <a:t>;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</a:t>
            </a:r>
            <a:r>
              <a:rPr lang="en-US" dirty="0" smtClean="0">
                <a:latin typeface="Bahnschrift Light SemiCondensed" pitchFamily="34" charset="0"/>
              </a:rPr>
              <a:t>void display() </a:t>
            </a:r>
            <a:r>
              <a:rPr lang="en-US" dirty="0" smtClean="0">
                <a:latin typeface="Bahnschrift Light SemiCondensed" pitchFamily="34" charset="0"/>
              </a:rPr>
              <a:t>{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err="1" smtClean="0">
                <a:latin typeface="Bahnschrift Light SemiCondensed" pitchFamily="34" charset="0"/>
              </a:rPr>
              <a:t>super.display</a:t>
            </a:r>
            <a:r>
              <a:rPr lang="en-US" dirty="0" smtClean="0">
                <a:latin typeface="Bahnschrift Light SemiCondensed" pitchFamily="34" charset="0"/>
              </a:rPr>
              <a:t>();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err="1" smtClean="0">
                <a:latin typeface="Bahnschrift Light SemiCondensed" pitchFamily="34" charset="0"/>
              </a:rPr>
              <a:t>System.out.println</a:t>
            </a:r>
            <a:r>
              <a:rPr lang="en-US" dirty="0" smtClean="0">
                <a:latin typeface="Bahnschrift Light SemiCondensed" pitchFamily="34" charset="0"/>
              </a:rPr>
              <a:t>("Department: " + department</a:t>
            </a:r>
            <a:r>
              <a:rPr lang="en-US" dirty="0" smtClean="0">
                <a:latin typeface="Bahnschrift Light SemiCondensed" pitchFamily="34" charset="0"/>
              </a:rPr>
              <a:t>);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}</a:t>
            </a:r>
          </a:p>
          <a:p>
            <a:r>
              <a:rPr lang="en-US" dirty="0" smtClean="0">
                <a:latin typeface="Bahnschrift Light SemiCondensed" pitchFamily="34" charset="0"/>
              </a:rPr>
              <a:t>}</a:t>
            </a:r>
          </a:p>
          <a:p>
            <a:r>
              <a:rPr lang="en-US" dirty="0" smtClean="0">
                <a:latin typeface="Bahnschrift Light SemiCondensed" pitchFamily="34" charset="0"/>
              </a:rPr>
              <a:t>class </a:t>
            </a:r>
            <a:r>
              <a:rPr lang="en-US" dirty="0" smtClean="0">
                <a:latin typeface="Bahnschrift Light SemiCondensed" pitchFamily="34" charset="0"/>
              </a:rPr>
              <a:t>Developer extends Employee </a:t>
            </a:r>
            <a:r>
              <a:rPr lang="en-US" dirty="0" smtClean="0">
                <a:latin typeface="Bahnschrift Light SemiCondensed" pitchFamily="34" charset="0"/>
              </a:rPr>
              <a:t>{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</a:t>
            </a:r>
            <a:r>
              <a:rPr lang="en-US" dirty="0" smtClean="0">
                <a:latin typeface="Bahnschrift Light SemiCondensed" pitchFamily="34" charset="0"/>
              </a:rPr>
              <a:t>String </a:t>
            </a:r>
            <a:r>
              <a:rPr lang="en-US" dirty="0" err="1" smtClean="0">
                <a:latin typeface="Bahnschrift Light SemiCondensed" pitchFamily="34" charset="0"/>
              </a:rPr>
              <a:t>programmingLanguage</a:t>
            </a:r>
            <a:r>
              <a:rPr lang="en-US" dirty="0" smtClean="0">
                <a:latin typeface="Bahnschrift Light SemiCondensed" pitchFamily="34" charset="0"/>
              </a:rPr>
              <a:t>;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</a:t>
            </a:r>
            <a:r>
              <a:rPr lang="en-US" dirty="0" smtClean="0">
                <a:latin typeface="Bahnschrift Light SemiCondensed" pitchFamily="34" charset="0"/>
              </a:rPr>
              <a:t>void display() </a:t>
            </a:r>
            <a:r>
              <a:rPr lang="en-US" dirty="0" smtClean="0">
                <a:latin typeface="Bahnschrift Light SemiCondensed" pitchFamily="34" charset="0"/>
              </a:rPr>
              <a:t>{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err="1" smtClean="0">
                <a:latin typeface="Bahnschrift Light SemiCondensed" pitchFamily="34" charset="0"/>
              </a:rPr>
              <a:t>super.display</a:t>
            </a:r>
            <a:r>
              <a:rPr lang="en-US" dirty="0" smtClean="0">
                <a:latin typeface="Bahnschrift Light SemiCondensed" pitchFamily="34" charset="0"/>
              </a:rPr>
              <a:t>();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err="1" smtClean="0">
                <a:latin typeface="Bahnschrift Light SemiCondensed" pitchFamily="34" charset="0"/>
              </a:rPr>
              <a:t>System.out.println</a:t>
            </a:r>
            <a:r>
              <a:rPr lang="en-US" dirty="0" smtClean="0">
                <a:latin typeface="Bahnschrift Light SemiCondensed" pitchFamily="34" charset="0"/>
              </a:rPr>
              <a:t>("Programming Language: " + </a:t>
            </a:r>
            <a:r>
              <a:rPr lang="en-US" dirty="0" err="1" smtClean="0">
                <a:latin typeface="Bahnschrift Light SemiCondensed" pitchFamily="34" charset="0"/>
              </a:rPr>
              <a:t>programmingLanguage</a:t>
            </a:r>
            <a:r>
              <a:rPr lang="en-US" dirty="0" smtClean="0">
                <a:latin typeface="Bahnschrift Light SemiCondensed" pitchFamily="34" charset="0"/>
              </a:rPr>
              <a:t>);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}</a:t>
            </a:r>
          </a:p>
          <a:p>
            <a:r>
              <a:rPr lang="en-US" dirty="0" smtClean="0">
                <a:latin typeface="Bahnschrift Light SemiCondensed" pitchFamily="34" charset="0"/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304800"/>
            <a:ext cx="8382000" cy="5863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public </a:t>
            </a:r>
            <a:r>
              <a:rPr lang="en-US" dirty="0" smtClean="0">
                <a:latin typeface="Bahnschrift Light SemiCondensed" pitchFamily="34" charset="0"/>
              </a:rPr>
              <a:t>class </a:t>
            </a:r>
            <a:r>
              <a:rPr lang="en-US" dirty="0" err="1" smtClean="0">
                <a:latin typeface="Bahnschrift Light SemiCondensed" pitchFamily="34" charset="0"/>
              </a:rPr>
              <a:t>EmployeeTest</a:t>
            </a:r>
            <a:r>
              <a:rPr lang="en-US" dirty="0" smtClean="0">
                <a:latin typeface="Bahnschrift Light SemiCondensed" pitchFamily="34" charset="0"/>
              </a:rPr>
              <a:t> </a:t>
            </a:r>
            <a:r>
              <a:rPr lang="en-US" dirty="0" smtClean="0">
                <a:latin typeface="Bahnschrift Light SemiCondensed" pitchFamily="34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</a:t>
            </a:r>
            <a:r>
              <a:rPr lang="en-US" dirty="0" smtClean="0">
                <a:latin typeface="Bahnschrift Light SemiCondensed" pitchFamily="34" charset="0"/>
              </a:rPr>
              <a:t>public static void main(String[] </a:t>
            </a:r>
            <a:r>
              <a:rPr lang="en-US" dirty="0" err="1" smtClean="0">
                <a:latin typeface="Bahnschrift Light SemiCondensed" pitchFamily="34" charset="0"/>
              </a:rPr>
              <a:t>args</a:t>
            </a:r>
            <a:r>
              <a:rPr lang="en-US" dirty="0" smtClean="0">
                <a:latin typeface="Bahnschrift Light SemiCondensed" pitchFamily="34" charset="0"/>
              </a:rPr>
              <a:t>) </a:t>
            </a:r>
            <a:r>
              <a:rPr lang="en-US" dirty="0" smtClean="0">
                <a:latin typeface="Bahnschrift Light SemiCondensed" pitchFamily="34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smtClean="0">
                <a:latin typeface="Bahnschrift Light SemiCondensed" pitchFamily="34" charset="0"/>
              </a:rPr>
              <a:t>Manager m = new Manager</a:t>
            </a:r>
            <a:r>
              <a:rPr lang="en-US" dirty="0" smtClean="0">
                <a:latin typeface="Bahnschrift Light SemiCondensed" pitchFamily="34" charset="0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smtClean="0">
                <a:latin typeface="Bahnschrift Light SemiCondensed" pitchFamily="34" charset="0"/>
              </a:rPr>
              <a:t>m.name = "Sarah</a:t>
            </a:r>
            <a:r>
              <a:rPr lang="en-US" dirty="0" smtClean="0">
                <a:latin typeface="Bahnschrift Light SemiCondensed" pitchFamily="34" charset="0"/>
              </a:rPr>
              <a:t>";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err="1" smtClean="0">
                <a:latin typeface="Bahnschrift Light SemiCondensed" pitchFamily="34" charset="0"/>
              </a:rPr>
              <a:t>m.salary</a:t>
            </a:r>
            <a:r>
              <a:rPr lang="en-US" dirty="0" smtClean="0">
                <a:latin typeface="Bahnschrift Light SemiCondensed" pitchFamily="34" charset="0"/>
              </a:rPr>
              <a:t> = 75000</a:t>
            </a:r>
            <a:r>
              <a:rPr lang="en-US" dirty="0" smtClean="0">
                <a:latin typeface="Bahnschrift Light SemiCondensed" pitchFamily="34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err="1" smtClean="0">
                <a:latin typeface="Bahnschrift Light SemiCondensed" pitchFamily="34" charset="0"/>
              </a:rPr>
              <a:t>m.department</a:t>
            </a:r>
            <a:r>
              <a:rPr lang="en-US" dirty="0" smtClean="0">
                <a:latin typeface="Bahnschrift Light SemiCondensed" pitchFamily="34" charset="0"/>
              </a:rPr>
              <a:t> = "HR</a:t>
            </a:r>
            <a:r>
              <a:rPr lang="en-US" dirty="0" smtClean="0">
                <a:latin typeface="Bahnschrift Light SemiCondensed" pitchFamily="34" charset="0"/>
              </a:rPr>
              <a:t>";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err="1" smtClean="0">
                <a:latin typeface="Bahnschrift Light SemiCondensed" pitchFamily="34" charset="0"/>
              </a:rPr>
              <a:t>m.display</a:t>
            </a:r>
            <a:r>
              <a:rPr lang="en-US" dirty="0" smtClean="0">
                <a:latin typeface="Bahnschrift Light SemiCondensed" pitchFamily="34" charset="0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smtClean="0">
                <a:latin typeface="Bahnschrift Light SemiCondensed" pitchFamily="34" charset="0"/>
              </a:rPr>
              <a:t>Developer d = new Developer</a:t>
            </a:r>
            <a:r>
              <a:rPr lang="en-US" dirty="0" smtClean="0">
                <a:latin typeface="Bahnschrift Light SemiCondensed" pitchFamily="34" charset="0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smtClean="0">
                <a:latin typeface="Bahnschrift Light SemiCondensed" pitchFamily="34" charset="0"/>
              </a:rPr>
              <a:t>d.name = "Tom</a:t>
            </a:r>
            <a:r>
              <a:rPr lang="en-US" dirty="0" smtClean="0">
                <a:latin typeface="Bahnschrift Light SemiCondensed" pitchFamily="34" charset="0"/>
              </a:rPr>
              <a:t>";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err="1" smtClean="0">
                <a:latin typeface="Bahnschrift Light SemiCondensed" pitchFamily="34" charset="0"/>
              </a:rPr>
              <a:t>d.salary</a:t>
            </a:r>
            <a:r>
              <a:rPr lang="en-US" dirty="0" smtClean="0">
                <a:latin typeface="Bahnschrift Light SemiCondensed" pitchFamily="34" charset="0"/>
              </a:rPr>
              <a:t> = 90000</a:t>
            </a:r>
            <a:r>
              <a:rPr lang="en-US" dirty="0" smtClean="0">
                <a:latin typeface="Bahnschrift Light SemiCondensed" pitchFamily="34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err="1" smtClean="0">
                <a:latin typeface="Bahnschrift Light SemiCondensed" pitchFamily="34" charset="0"/>
              </a:rPr>
              <a:t>d.programmingLanguage</a:t>
            </a:r>
            <a:r>
              <a:rPr lang="en-US" dirty="0" smtClean="0">
                <a:latin typeface="Bahnschrift Light SemiCondensed" pitchFamily="34" charset="0"/>
              </a:rPr>
              <a:t> = "Java</a:t>
            </a:r>
            <a:r>
              <a:rPr lang="en-US" dirty="0" smtClean="0">
                <a:latin typeface="Bahnschrift Light SemiCondensed" pitchFamily="34" charset="0"/>
              </a:rPr>
              <a:t>";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 </a:t>
            </a:r>
            <a:r>
              <a:rPr lang="en-US" dirty="0" err="1" smtClean="0">
                <a:latin typeface="Bahnschrift Light SemiCondensed" pitchFamily="34" charset="0"/>
              </a:rPr>
              <a:t>d.display</a:t>
            </a:r>
            <a:r>
              <a:rPr lang="en-US" dirty="0" smtClean="0">
                <a:latin typeface="Bahnschrift Light SemiCondensed" pitchFamily="34" charset="0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    </a:t>
            </a:r>
            <a:r>
              <a:rPr lang="en-US" dirty="0" smtClean="0">
                <a:latin typeface="Bahnschrift Light SemiCondensed" pitchFamily="34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}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152400"/>
            <a:ext cx="868680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MULTILEVEL INHERITANCE – ANIMAL HIERARCHY</a:t>
            </a:r>
          </a:p>
          <a:p>
            <a:r>
              <a:rPr lang="en-US" dirty="0" smtClean="0">
                <a:latin typeface="Bahnschrift Light SemiCondensed" pitchFamily="34" charset="0"/>
              </a:rPr>
              <a:t>class </a:t>
            </a:r>
            <a:r>
              <a:rPr lang="en-US" dirty="0" smtClean="0">
                <a:latin typeface="Bahnschrift Light SemiCondensed" pitchFamily="34" charset="0"/>
              </a:rPr>
              <a:t>Animal </a:t>
            </a:r>
            <a:r>
              <a:rPr lang="en-US" dirty="0" smtClean="0">
                <a:latin typeface="Bahnschrift Light SemiCondensed" pitchFamily="34" charset="0"/>
              </a:rPr>
              <a:t>{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</a:t>
            </a:r>
            <a:r>
              <a:rPr lang="en-US" dirty="0" smtClean="0">
                <a:latin typeface="Bahnschrift Light SemiCondensed" pitchFamily="34" charset="0"/>
              </a:rPr>
              <a:t>void eat() </a:t>
            </a:r>
            <a:r>
              <a:rPr lang="en-US" dirty="0" smtClean="0">
                <a:latin typeface="Bahnschrift Light SemiCondensed" pitchFamily="34" charset="0"/>
              </a:rPr>
              <a:t>{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err="1" smtClean="0">
                <a:latin typeface="Bahnschrift Light SemiCondensed" pitchFamily="34" charset="0"/>
              </a:rPr>
              <a:t>System.out.println</a:t>
            </a:r>
            <a:r>
              <a:rPr lang="en-US" dirty="0" smtClean="0">
                <a:latin typeface="Bahnschrift Light SemiCondensed" pitchFamily="34" charset="0"/>
              </a:rPr>
              <a:t>("Animal eats</a:t>
            </a:r>
            <a:r>
              <a:rPr lang="en-US" dirty="0" smtClean="0">
                <a:latin typeface="Bahnschrift Light SemiCondensed" pitchFamily="34" charset="0"/>
              </a:rPr>
              <a:t>.");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}</a:t>
            </a:r>
          </a:p>
          <a:p>
            <a:r>
              <a:rPr lang="en-US" dirty="0" smtClean="0">
                <a:latin typeface="Bahnschrift Light SemiCondensed" pitchFamily="34" charset="0"/>
              </a:rPr>
              <a:t>}</a:t>
            </a:r>
          </a:p>
          <a:p>
            <a:r>
              <a:rPr lang="en-US" dirty="0" smtClean="0">
                <a:latin typeface="Bahnschrift Light SemiCondensed" pitchFamily="34" charset="0"/>
              </a:rPr>
              <a:t>class </a:t>
            </a:r>
            <a:r>
              <a:rPr lang="en-US" dirty="0" smtClean="0">
                <a:latin typeface="Bahnschrift Light SemiCondensed" pitchFamily="34" charset="0"/>
              </a:rPr>
              <a:t>Mammal extends Animal </a:t>
            </a:r>
            <a:r>
              <a:rPr lang="en-US" dirty="0" smtClean="0">
                <a:latin typeface="Bahnschrift Light SemiCondensed" pitchFamily="34" charset="0"/>
              </a:rPr>
              <a:t>{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</a:t>
            </a:r>
            <a:r>
              <a:rPr lang="en-US" dirty="0" smtClean="0">
                <a:latin typeface="Bahnschrift Light SemiCondensed" pitchFamily="34" charset="0"/>
              </a:rPr>
              <a:t>void walk() </a:t>
            </a:r>
            <a:r>
              <a:rPr lang="en-US" dirty="0" smtClean="0">
                <a:latin typeface="Bahnschrift Light SemiCondensed" pitchFamily="34" charset="0"/>
              </a:rPr>
              <a:t>{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err="1" smtClean="0">
                <a:latin typeface="Bahnschrift Light SemiCondensed" pitchFamily="34" charset="0"/>
              </a:rPr>
              <a:t>System.out.println</a:t>
            </a:r>
            <a:r>
              <a:rPr lang="en-US" dirty="0" smtClean="0">
                <a:latin typeface="Bahnschrift Light SemiCondensed" pitchFamily="34" charset="0"/>
              </a:rPr>
              <a:t>("Mammal walks</a:t>
            </a:r>
            <a:r>
              <a:rPr lang="en-US" dirty="0" smtClean="0">
                <a:latin typeface="Bahnschrift Light SemiCondensed" pitchFamily="34" charset="0"/>
              </a:rPr>
              <a:t>.");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}</a:t>
            </a:r>
          </a:p>
          <a:p>
            <a:r>
              <a:rPr lang="en-US" dirty="0" smtClean="0">
                <a:latin typeface="Bahnschrift Light SemiCondensed" pitchFamily="34" charset="0"/>
              </a:rPr>
              <a:t>}</a:t>
            </a:r>
          </a:p>
          <a:p>
            <a:r>
              <a:rPr lang="en-US" dirty="0" smtClean="0">
                <a:latin typeface="Bahnschrift Light SemiCondensed" pitchFamily="34" charset="0"/>
              </a:rPr>
              <a:t>class </a:t>
            </a:r>
            <a:r>
              <a:rPr lang="en-US" dirty="0" smtClean="0">
                <a:latin typeface="Bahnschrift Light SemiCondensed" pitchFamily="34" charset="0"/>
              </a:rPr>
              <a:t>Dog extends Mammal { </a:t>
            </a:r>
            <a:endParaRPr lang="en-US" dirty="0" smtClean="0">
              <a:latin typeface="Bahnschrift Light SemiCondensed" pitchFamily="34" charset="0"/>
            </a:endParaRPr>
          </a:p>
          <a:p>
            <a:r>
              <a:rPr lang="en-US" dirty="0" smtClean="0">
                <a:latin typeface="Bahnschrift Light SemiCondensed" pitchFamily="34" charset="0"/>
              </a:rPr>
              <a:t>   </a:t>
            </a:r>
            <a:r>
              <a:rPr lang="en-US" dirty="0" smtClean="0">
                <a:latin typeface="Bahnschrift Light SemiCondensed" pitchFamily="34" charset="0"/>
              </a:rPr>
              <a:t>void bark() </a:t>
            </a:r>
            <a:r>
              <a:rPr lang="en-US" dirty="0" smtClean="0">
                <a:latin typeface="Bahnschrift Light SemiCondensed" pitchFamily="34" charset="0"/>
              </a:rPr>
              <a:t>{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err="1" smtClean="0">
                <a:latin typeface="Bahnschrift Light SemiCondensed" pitchFamily="34" charset="0"/>
              </a:rPr>
              <a:t>System.out.println</a:t>
            </a:r>
            <a:r>
              <a:rPr lang="en-US" dirty="0" smtClean="0">
                <a:latin typeface="Bahnschrift Light SemiCondensed" pitchFamily="34" charset="0"/>
              </a:rPr>
              <a:t>("Dog barks</a:t>
            </a:r>
            <a:r>
              <a:rPr lang="en-US" dirty="0" smtClean="0">
                <a:latin typeface="Bahnschrift Light SemiCondensed" pitchFamily="34" charset="0"/>
              </a:rPr>
              <a:t>.");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}</a:t>
            </a:r>
          </a:p>
          <a:p>
            <a:r>
              <a:rPr lang="en-US" dirty="0" smtClean="0">
                <a:latin typeface="Bahnschrift Light SemiCondensed" pitchFamily="34" charset="0"/>
              </a:rPr>
              <a:t>}</a:t>
            </a:r>
          </a:p>
          <a:p>
            <a:r>
              <a:rPr lang="en-US" dirty="0" smtClean="0">
                <a:latin typeface="Bahnschrift Light SemiCondensed" pitchFamily="34" charset="0"/>
              </a:rPr>
              <a:t>public </a:t>
            </a:r>
            <a:r>
              <a:rPr lang="en-US" dirty="0" smtClean="0">
                <a:latin typeface="Bahnschrift Light SemiCondensed" pitchFamily="34" charset="0"/>
              </a:rPr>
              <a:t>class </a:t>
            </a:r>
            <a:r>
              <a:rPr lang="en-US" dirty="0" err="1" smtClean="0">
                <a:latin typeface="Bahnschrift Light SemiCondensed" pitchFamily="34" charset="0"/>
              </a:rPr>
              <a:t>AnimalTest</a:t>
            </a:r>
            <a:r>
              <a:rPr lang="en-US" dirty="0" smtClean="0">
                <a:latin typeface="Bahnschrift Light SemiCondensed" pitchFamily="34" charset="0"/>
              </a:rPr>
              <a:t> </a:t>
            </a:r>
            <a:r>
              <a:rPr lang="en-US" dirty="0" smtClean="0">
                <a:latin typeface="Bahnschrift Light SemiCondensed" pitchFamily="34" charset="0"/>
              </a:rPr>
              <a:t>{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</a:t>
            </a:r>
            <a:r>
              <a:rPr lang="en-US" dirty="0" smtClean="0">
                <a:latin typeface="Bahnschrift Light SemiCondensed" pitchFamily="34" charset="0"/>
              </a:rPr>
              <a:t>public static void main(String[] </a:t>
            </a:r>
            <a:r>
              <a:rPr lang="en-US" dirty="0" err="1" smtClean="0">
                <a:latin typeface="Bahnschrift Light SemiCondensed" pitchFamily="34" charset="0"/>
              </a:rPr>
              <a:t>args</a:t>
            </a:r>
            <a:r>
              <a:rPr lang="en-US" dirty="0" smtClean="0">
                <a:latin typeface="Bahnschrift Light SemiCondensed" pitchFamily="34" charset="0"/>
              </a:rPr>
              <a:t>) </a:t>
            </a:r>
            <a:r>
              <a:rPr lang="en-US" dirty="0" smtClean="0">
                <a:latin typeface="Bahnschrift Light SemiCondensed" pitchFamily="34" charset="0"/>
              </a:rPr>
              <a:t>{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smtClean="0">
                <a:latin typeface="Bahnschrift Light SemiCondensed" pitchFamily="34" charset="0"/>
              </a:rPr>
              <a:t>Dog </a:t>
            </a:r>
            <a:r>
              <a:rPr lang="en-US" dirty="0" err="1" smtClean="0">
                <a:latin typeface="Bahnschrift Light SemiCondensed" pitchFamily="34" charset="0"/>
              </a:rPr>
              <a:t>dog</a:t>
            </a:r>
            <a:r>
              <a:rPr lang="en-US" dirty="0" smtClean="0">
                <a:latin typeface="Bahnschrift Light SemiCondensed" pitchFamily="34" charset="0"/>
              </a:rPr>
              <a:t> = new Dog</a:t>
            </a:r>
            <a:r>
              <a:rPr lang="en-US" dirty="0" smtClean="0">
                <a:latin typeface="Bahnschrift Light SemiCondensed" pitchFamily="34" charset="0"/>
              </a:rPr>
              <a:t>();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smtClean="0">
                <a:latin typeface="Bahnschrift Light SemiCondensed" pitchFamily="34" charset="0"/>
              </a:rPr>
              <a:t>dog.eat();  </a:t>
            </a:r>
            <a:endParaRPr lang="en-US" dirty="0" smtClean="0">
              <a:latin typeface="Bahnschrift Light SemiCondensed" pitchFamily="34" charset="0"/>
            </a:endParaRPr>
          </a:p>
          <a:p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err="1" smtClean="0">
                <a:latin typeface="Bahnschrift Light SemiCondensed" pitchFamily="34" charset="0"/>
              </a:rPr>
              <a:t>dog.walk</a:t>
            </a:r>
            <a:r>
              <a:rPr lang="en-US" dirty="0" smtClean="0">
                <a:latin typeface="Bahnschrift Light SemiCondensed" pitchFamily="34" charset="0"/>
              </a:rPr>
              <a:t>(); </a:t>
            </a:r>
            <a:endParaRPr lang="en-US" dirty="0" smtClean="0">
              <a:latin typeface="Bahnschrift Light SemiCondensed" pitchFamily="34" charset="0"/>
            </a:endParaRPr>
          </a:p>
          <a:p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err="1" smtClean="0">
                <a:latin typeface="Bahnschrift Light SemiCondensed" pitchFamily="34" charset="0"/>
              </a:rPr>
              <a:t>dog.bark</a:t>
            </a:r>
            <a:r>
              <a:rPr lang="en-US" dirty="0" smtClean="0">
                <a:latin typeface="Bahnschrift Light SemiCondensed" pitchFamily="34" charset="0"/>
              </a:rPr>
              <a:t>();</a:t>
            </a:r>
          </a:p>
          <a:p>
            <a:r>
              <a:rPr lang="en-US" dirty="0" smtClean="0">
                <a:latin typeface="Bahnschrift Light SemiCondensed" pitchFamily="34" charset="0"/>
              </a:rPr>
              <a:t>    </a:t>
            </a:r>
            <a:r>
              <a:rPr lang="en-US" dirty="0" smtClean="0">
                <a:latin typeface="Bahnschrift Light SemiCondensed" pitchFamily="34" charset="0"/>
              </a:rPr>
              <a:t>}  }</a:t>
            </a:r>
            <a:endParaRPr lang="en-US" dirty="0">
              <a:latin typeface="Bahnschrift Light SemiCondensed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0"/>
            <a:ext cx="8763000" cy="6601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HIERARCHICAL INHERITANCE – SHAPE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class Shape </a:t>
            </a:r>
            <a:r>
              <a:rPr lang="en-US" dirty="0" smtClean="0">
                <a:latin typeface="Bahnschrift Light SemiCondensed" pitchFamily="34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</a:t>
            </a:r>
            <a:r>
              <a:rPr lang="en-US" dirty="0" smtClean="0">
                <a:latin typeface="Bahnschrift Light SemiCondensed" pitchFamily="34" charset="0"/>
              </a:rPr>
              <a:t>void area() </a:t>
            </a:r>
            <a:r>
              <a:rPr lang="en-US" dirty="0" smtClean="0">
                <a:latin typeface="Bahnschrift Light SemiCondensed" pitchFamily="34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err="1" smtClean="0">
                <a:latin typeface="Bahnschrift Light SemiCondensed" pitchFamily="34" charset="0"/>
              </a:rPr>
              <a:t>System.out.println</a:t>
            </a:r>
            <a:r>
              <a:rPr lang="en-US" dirty="0" smtClean="0">
                <a:latin typeface="Bahnschrift Light SemiCondensed" pitchFamily="34" charset="0"/>
              </a:rPr>
              <a:t>("Area method in Shape."); </a:t>
            </a:r>
            <a:endParaRPr lang="en-US" dirty="0" smtClean="0">
              <a:latin typeface="Bahnschrift Light SemiCondensed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}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class </a:t>
            </a:r>
            <a:r>
              <a:rPr lang="en-US" dirty="0" smtClean="0">
                <a:latin typeface="Bahnschrift Light SemiCondensed" pitchFamily="34" charset="0"/>
              </a:rPr>
              <a:t>Circle extends Shape </a:t>
            </a:r>
            <a:r>
              <a:rPr lang="en-US" dirty="0" smtClean="0">
                <a:latin typeface="Bahnschrift Light SemiCondensed" pitchFamily="34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</a:t>
            </a:r>
            <a:r>
              <a:rPr lang="en-US" dirty="0" smtClean="0">
                <a:latin typeface="Bahnschrift Light SemiCondensed" pitchFamily="34" charset="0"/>
              </a:rPr>
              <a:t>double radius; </a:t>
            </a:r>
            <a:endParaRPr lang="en-US" dirty="0" smtClean="0">
              <a:latin typeface="Bahnschrift Light SemiCondensed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</a:t>
            </a:r>
            <a:r>
              <a:rPr lang="en-US" dirty="0" smtClean="0">
                <a:latin typeface="Bahnschrift Light SemiCondensed" pitchFamily="34" charset="0"/>
              </a:rPr>
              <a:t>Circle(double r) </a:t>
            </a:r>
            <a:r>
              <a:rPr lang="en-US" dirty="0" smtClean="0">
                <a:latin typeface="Bahnschrift Light SemiCondensed" pitchFamily="34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smtClean="0">
                <a:latin typeface="Bahnschrift Light SemiCondensed" pitchFamily="34" charset="0"/>
              </a:rPr>
              <a:t>radius = r</a:t>
            </a:r>
            <a:r>
              <a:rPr lang="en-US" dirty="0" smtClean="0">
                <a:latin typeface="Bahnschrift Light SemiCondensed" pitchFamily="34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</a:t>
            </a:r>
            <a:r>
              <a:rPr lang="en-US" dirty="0" smtClean="0">
                <a:latin typeface="Bahnschrift Light SemiCondensed" pitchFamily="34" charset="0"/>
              </a:rPr>
              <a:t>void area() </a:t>
            </a:r>
            <a:r>
              <a:rPr lang="en-US" dirty="0" smtClean="0">
                <a:latin typeface="Bahnschrift Light SemiCondensed" pitchFamily="34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smtClean="0">
                <a:latin typeface="Bahnschrift Light SemiCondensed" pitchFamily="34" charset="0"/>
              </a:rPr>
              <a:t>double result = </a:t>
            </a:r>
            <a:r>
              <a:rPr lang="en-US" dirty="0" err="1" smtClean="0">
                <a:latin typeface="Bahnschrift Light SemiCondensed" pitchFamily="34" charset="0"/>
              </a:rPr>
              <a:t>Math.PI</a:t>
            </a:r>
            <a:r>
              <a:rPr lang="en-US" dirty="0" smtClean="0">
                <a:latin typeface="Bahnschrift Light SemiCondensed" pitchFamily="34" charset="0"/>
              </a:rPr>
              <a:t> * radius * radius; </a:t>
            </a:r>
            <a:endParaRPr lang="en-US" dirty="0" smtClean="0">
              <a:latin typeface="Bahnschrift Light SemiCondensed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</a:t>
            </a:r>
            <a:r>
              <a:rPr lang="en-US" dirty="0" err="1" smtClean="0">
                <a:latin typeface="Bahnschrift Light SemiCondensed" pitchFamily="34" charset="0"/>
              </a:rPr>
              <a:t>System.out.println</a:t>
            </a:r>
            <a:r>
              <a:rPr lang="en-US" dirty="0" smtClean="0">
                <a:latin typeface="Bahnschrift Light SemiCondensed" pitchFamily="34" charset="0"/>
              </a:rPr>
              <a:t>("Area of Circle: " + result</a:t>
            </a:r>
            <a:r>
              <a:rPr lang="en-US" dirty="0" smtClean="0">
                <a:latin typeface="Bahnschrift Light SemiCondensed" pitchFamily="34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" y="0"/>
            <a:ext cx="8686800" cy="68788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>
              <a:latin typeface="Bahnschrift Light SemiCondensed" pitchFamily="34" charset="0"/>
            </a:endParaRPr>
          </a:p>
          <a:p>
            <a:r>
              <a:rPr lang="en-US" dirty="0" smtClean="0">
                <a:latin typeface="Bahnschrift Light SemiCondensed" pitchFamily="34" charset="0"/>
              </a:rPr>
              <a:t>class </a:t>
            </a:r>
            <a:r>
              <a:rPr lang="en-US" dirty="0" smtClean="0">
                <a:latin typeface="Bahnschrift Light SemiCondensed" pitchFamily="34" charset="0"/>
              </a:rPr>
              <a:t>Rectangle extends Shape </a:t>
            </a:r>
            <a:r>
              <a:rPr lang="en-US" dirty="0" smtClean="0">
                <a:latin typeface="Bahnschrift Light SemiCondensed" pitchFamily="34" charset="0"/>
              </a:rPr>
              <a:t>{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</a:t>
            </a:r>
            <a:r>
              <a:rPr lang="en-US" dirty="0" smtClean="0">
                <a:latin typeface="Bahnschrift Light SemiCondensed" pitchFamily="34" charset="0"/>
              </a:rPr>
              <a:t>double length, width</a:t>
            </a:r>
            <a:r>
              <a:rPr lang="en-US" dirty="0" smtClean="0">
                <a:latin typeface="Bahnschrift Light SemiCondensed" pitchFamily="34" charset="0"/>
              </a:rPr>
              <a:t>;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</a:t>
            </a:r>
            <a:r>
              <a:rPr lang="en-US" dirty="0" smtClean="0">
                <a:latin typeface="Bahnschrift Light SemiCondensed" pitchFamily="34" charset="0"/>
              </a:rPr>
              <a:t>Rectangle(double l, double w) </a:t>
            </a:r>
            <a:r>
              <a:rPr lang="en-US" dirty="0" smtClean="0">
                <a:latin typeface="Bahnschrift Light SemiCondensed" pitchFamily="34" charset="0"/>
              </a:rPr>
              <a:t>{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smtClean="0">
                <a:latin typeface="Bahnschrift Light SemiCondensed" pitchFamily="34" charset="0"/>
              </a:rPr>
              <a:t>length = l</a:t>
            </a:r>
            <a:r>
              <a:rPr lang="en-US" dirty="0" smtClean="0">
                <a:latin typeface="Bahnschrift Light SemiCondensed" pitchFamily="34" charset="0"/>
              </a:rPr>
              <a:t>;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smtClean="0">
                <a:latin typeface="Bahnschrift Light SemiCondensed" pitchFamily="34" charset="0"/>
              </a:rPr>
              <a:t>width = w</a:t>
            </a:r>
            <a:r>
              <a:rPr lang="en-US" dirty="0" smtClean="0">
                <a:latin typeface="Bahnschrift Light SemiCondensed" pitchFamily="34" charset="0"/>
              </a:rPr>
              <a:t>;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}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</a:t>
            </a:r>
            <a:r>
              <a:rPr lang="en-US" dirty="0" smtClean="0">
                <a:latin typeface="Bahnschrift Light SemiCondensed" pitchFamily="34" charset="0"/>
              </a:rPr>
              <a:t>void area() </a:t>
            </a:r>
            <a:r>
              <a:rPr lang="en-US" dirty="0" smtClean="0">
                <a:latin typeface="Bahnschrift Light SemiCondensed" pitchFamily="34" charset="0"/>
              </a:rPr>
              <a:t>{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smtClean="0">
                <a:latin typeface="Bahnschrift Light SemiCondensed" pitchFamily="34" charset="0"/>
              </a:rPr>
              <a:t>double result = length * width</a:t>
            </a:r>
            <a:r>
              <a:rPr lang="en-US" dirty="0" smtClean="0">
                <a:latin typeface="Bahnschrift Light SemiCondensed" pitchFamily="34" charset="0"/>
              </a:rPr>
              <a:t>;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err="1" smtClean="0">
                <a:latin typeface="Bahnschrift Light SemiCondensed" pitchFamily="34" charset="0"/>
              </a:rPr>
              <a:t>System.out.println</a:t>
            </a:r>
            <a:r>
              <a:rPr lang="en-US" dirty="0" smtClean="0">
                <a:latin typeface="Bahnschrift Light SemiCondensed" pitchFamily="34" charset="0"/>
              </a:rPr>
              <a:t>("Area of Rectangle: " + result); </a:t>
            </a:r>
            <a:endParaRPr lang="en-US" dirty="0" smtClean="0">
              <a:latin typeface="Bahnschrift Light SemiCondensed" pitchFamily="34" charset="0"/>
            </a:endParaRPr>
          </a:p>
          <a:p>
            <a:r>
              <a:rPr lang="en-US" dirty="0" smtClean="0">
                <a:latin typeface="Bahnschrift Light SemiCondensed" pitchFamily="34" charset="0"/>
              </a:rPr>
              <a:t>   }</a:t>
            </a:r>
          </a:p>
          <a:p>
            <a:r>
              <a:rPr lang="en-US" dirty="0" smtClean="0">
                <a:latin typeface="Bahnschrift Light SemiCondensed" pitchFamily="34" charset="0"/>
              </a:rPr>
              <a:t>}</a:t>
            </a:r>
          </a:p>
          <a:p>
            <a:r>
              <a:rPr lang="en-US" dirty="0" smtClean="0">
                <a:latin typeface="Bahnschrift Light SemiCondensed" pitchFamily="34" charset="0"/>
              </a:rPr>
              <a:t> </a:t>
            </a:r>
            <a:r>
              <a:rPr lang="en-US" dirty="0" smtClean="0">
                <a:latin typeface="Bahnschrift Light SemiCondensed" pitchFamily="34" charset="0"/>
              </a:rPr>
              <a:t>public class </a:t>
            </a:r>
            <a:r>
              <a:rPr lang="en-US" dirty="0" err="1" smtClean="0">
                <a:latin typeface="Bahnschrift Light SemiCondensed" pitchFamily="34" charset="0"/>
              </a:rPr>
              <a:t>ShapeTest</a:t>
            </a:r>
            <a:r>
              <a:rPr lang="en-US" dirty="0" smtClean="0">
                <a:latin typeface="Bahnschrift Light SemiCondensed" pitchFamily="34" charset="0"/>
              </a:rPr>
              <a:t> { </a:t>
            </a:r>
            <a:endParaRPr lang="en-US" dirty="0" smtClean="0">
              <a:latin typeface="Bahnschrift Light SemiCondensed" pitchFamily="34" charset="0"/>
            </a:endParaRPr>
          </a:p>
          <a:p>
            <a:r>
              <a:rPr lang="en-US" dirty="0" smtClean="0">
                <a:latin typeface="Bahnschrift Light SemiCondensed" pitchFamily="34" charset="0"/>
              </a:rPr>
              <a:t>   </a:t>
            </a:r>
            <a:r>
              <a:rPr lang="en-US" dirty="0" smtClean="0">
                <a:latin typeface="Bahnschrift Light SemiCondensed" pitchFamily="34" charset="0"/>
              </a:rPr>
              <a:t>public static void main(String[] </a:t>
            </a:r>
            <a:r>
              <a:rPr lang="en-US" dirty="0" err="1" smtClean="0">
                <a:latin typeface="Bahnschrift Light SemiCondensed" pitchFamily="34" charset="0"/>
              </a:rPr>
              <a:t>args</a:t>
            </a:r>
            <a:r>
              <a:rPr lang="en-US" dirty="0" smtClean="0">
                <a:latin typeface="Bahnschrift Light SemiCondensed" pitchFamily="34" charset="0"/>
              </a:rPr>
              <a:t>) </a:t>
            </a:r>
            <a:r>
              <a:rPr lang="en-US" dirty="0" smtClean="0">
                <a:latin typeface="Bahnschrift Light SemiCondensed" pitchFamily="34" charset="0"/>
              </a:rPr>
              <a:t>{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smtClean="0">
                <a:latin typeface="Bahnschrift Light SemiCondensed" pitchFamily="34" charset="0"/>
              </a:rPr>
              <a:t>Circle c = new Circle(4.5</a:t>
            </a:r>
            <a:r>
              <a:rPr lang="en-US" dirty="0" smtClean="0">
                <a:latin typeface="Bahnschrift Light SemiCondensed" pitchFamily="34" charset="0"/>
              </a:rPr>
              <a:t>);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smtClean="0">
                <a:latin typeface="Bahnschrift Light SemiCondensed" pitchFamily="34" charset="0"/>
              </a:rPr>
              <a:t>Rectangle r = new Rectangle(5.0, 3.0</a:t>
            </a:r>
            <a:r>
              <a:rPr lang="en-US" dirty="0" smtClean="0">
                <a:latin typeface="Bahnschrift Light SemiCondensed" pitchFamily="34" charset="0"/>
              </a:rPr>
              <a:t>);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err="1" smtClean="0">
                <a:latin typeface="Bahnschrift Light SemiCondensed" pitchFamily="34" charset="0"/>
              </a:rPr>
              <a:t>c.area</a:t>
            </a:r>
            <a:r>
              <a:rPr lang="en-US" dirty="0" smtClean="0">
                <a:latin typeface="Bahnschrift Light SemiCondensed" pitchFamily="34" charset="0"/>
              </a:rPr>
              <a:t>();</a:t>
            </a:r>
          </a:p>
          <a:p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err="1" smtClean="0">
                <a:latin typeface="Bahnschrift Light SemiCondensed" pitchFamily="34" charset="0"/>
              </a:rPr>
              <a:t>r.area</a:t>
            </a:r>
            <a:r>
              <a:rPr lang="en-US" dirty="0" smtClean="0">
                <a:latin typeface="Bahnschrift Light SemiCondensed" pitchFamily="34" charset="0"/>
              </a:rPr>
              <a:t>();</a:t>
            </a:r>
          </a:p>
          <a:p>
            <a:r>
              <a:rPr lang="en-US" dirty="0" smtClean="0">
                <a:latin typeface="Bahnschrift Light SemiCondensed" pitchFamily="34" charset="0"/>
              </a:rPr>
              <a:t>    </a:t>
            </a:r>
            <a:r>
              <a:rPr lang="en-US" dirty="0" smtClean="0">
                <a:latin typeface="Bahnschrift Light SemiCondensed" pitchFamily="34" charset="0"/>
              </a:rPr>
              <a:t>}</a:t>
            </a:r>
          </a:p>
          <a:p>
            <a:r>
              <a:rPr lang="en-US" dirty="0" smtClean="0">
                <a:latin typeface="Bahnschrift Light SemiCondensed" pitchFamily="34" charset="0"/>
              </a:rPr>
              <a:t>}</a:t>
            </a:r>
            <a:endParaRPr lang="en-US" dirty="0" smtClean="0">
              <a:latin typeface="Bahnschrift Light SemiCondensed" pitchFamily="34" charset="0"/>
            </a:endParaRPr>
          </a:p>
          <a:p>
            <a:endParaRPr lang="en-US" b="1" dirty="0" smtClean="0"/>
          </a:p>
          <a:p>
            <a:endParaRPr lang="en-US" dirty="0" smtClean="0">
              <a:latin typeface="Bahnschrift Light SemiCondensed" pitchFamily="34" charset="0"/>
            </a:endParaRPr>
          </a:p>
          <a:p>
            <a:endParaRPr lang="en-US" dirty="0" smtClean="0"/>
          </a:p>
          <a:p>
            <a:pPr>
              <a:lnSpc>
                <a:spcPct val="150000"/>
              </a:lnSpc>
            </a:pPr>
            <a:endParaRPr lang="en-US" dirty="0">
              <a:latin typeface="Bahnschrift Light SemiCondensed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117693"/>
            <a:ext cx="85344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+mj-lt"/>
              </a:rPr>
              <a:t>SUPER KEYWORD – CONSTRUCTOR CHAINING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class </a:t>
            </a:r>
            <a:r>
              <a:rPr lang="en-US" dirty="0" smtClean="0">
                <a:latin typeface="Bahnschrift Light SemiCondensed" pitchFamily="34" charset="0"/>
              </a:rPr>
              <a:t>Person </a:t>
            </a:r>
            <a:r>
              <a:rPr lang="en-US" dirty="0" smtClean="0">
                <a:latin typeface="Bahnschrift Light SemiCondensed" pitchFamily="34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</a:t>
            </a:r>
            <a:r>
              <a:rPr lang="en-US" dirty="0" smtClean="0">
                <a:latin typeface="Bahnschrift Light SemiCondensed" pitchFamily="34" charset="0"/>
              </a:rPr>
              <a:t>Person() { </a:t>
            </a:r>
            <a:endParaRPr lang="en-US" dirty="0" smtClean="0">
              <a:latin typeface="Bahnschrift Light SemiCondensed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</a:t>
            </a:r>
            <a:r>
              <a:rPr lang="en-US" dirty="0" err="1" smtClean="0">
                <a:latin typeface="Bahnschrift Light SemiCondensed" pitchFamily="34" charset="0"/>
              </a:rPr>
              <a:t>System.out.println</a:t>
            </a:r>
            <a:r>
              <a:rPr lang="en-US" dirty="0" smtClean="0">
                <a:latin typeface="Bahnschrift Light SemiCondensed" pitchFamily="34" charset="0"/>
              </a:rPr>
              <a:t>("Person created"); </a:t>
            </a:r>
            <a:endParaRPr lang="en-US" dirty="0" smtClean="0">
              <a:latin typeface="Bahnschrift Light SemiCondensed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}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class </a:t>
            </a:r>
            <a:r>
              <a:rPr lang="en-US" dirty="0" smtClean="0">
                <a:latin typeface="Bahnschrift Light SemiCondensed" pitchFamily="34" charset="0"/>
              </a:rPr>
              <a:t>Student extends Person </a:t>
            </a:r>
            <a:r>
              <a:rPr lang="en-US" dirty="0" smtClean="0">
                <a:latin typeface="Bahnschrift Light SemiCondensed" pitchFamily="34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</a:t>
            </a:r>
            <a:r>
              <a:rPr lang="en-US" dirty="0" smtClean="0">
                <a:latin typeface="Bahnschrift Light SemiCondensed" pitchFamily="34" charset="0"/>
              </a:rPr>
              <a:t>Student() </a:t>
            </a:r>
            <a:r>
              <a:rPr lang="en-US" dirty="0" smtClean="0">
                <a:latin typeface="Bahnschrift Light SemiCondensed" pitchFamily="34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smtClean="0">
                <a:latin typeface="Bahnschrift Light SemiCondensed" pitchFamily="34" charset="0"/>
              </a:rPr>
              <a:t>super(); </a:t>
            </a:r>
            <a:endParaRPr lang="en-US" dirty="0" smtClean="0">
              <a:latin typeface="Bahnschrift Light SemiCondensed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</a:t>
            </a:r>
            <a:r>
              <a:rPr lang="en-US" dirty="0" err="1" smtClean="0">
                <a:latin typeface="Bahnschrift Light SemiCondensed" pitchFamily="34" charset="0"/>
              </a:rPr>
              <a:t>System.out.println</a:t>
            </a:r>
            <a:r>
              <a:rPr lang="en-US" dirty="0" smtClean="0">
                <a:latin typeface="Bahnschrift Light SemiCondensed" pitchFamily="34" charset="0"/>
              </a:rPr>
              <a:t>("Student created"); </a:t>
            </a:r>
            <a:endParaRPr lang="en-US" dirty="0" smtClean="0">
              <a:latin typeface="Bahnschrift Light SemiCondensed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}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public </a:t>
            </a:r>
            <a:r>
              <a:rPr lang="en-US" dirty="0" smtClean="0">
                <a:latin typeface="Bahnschrift Light SemiCondensed" pitchFamily="34" charset="0"/>
              </a:rPr>
              <a:t>class </a:t>
            </a:r>
            <a:r>
              <a:rPr lang="en-US" dirty="0" err="1" smtClean="0">
                <a:latin typeface="Bahnschrift Light SemiCondensed" pitchFamily="34" charset="0"/>
              </a:rPr>
              <a:t>SuperConstructorTest</a:t>
            </a:r>
            <a:r>
              <a:rPr lang="en-US" dirty="0" smtClean="0">
                <a:latin typeface="Bahnschrift Light SemiCondensed" pitchFamily="34" charset="0"/>
              </a:rPr>
              <a:t> </a:t>
            </a:r>
            <a:r>
              <a:rPr lang="en-US" dirty="0" smtClean="0">
                <a:latin typeface="Bahnschrift Light SemiCondensed" pitchFamily="34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</a:t>
            </a:r>
            <a:r>
              <a:rPr lang="en-US" dirty="0" smtClean="0">
                <a:latin typeface="Bahnschrift Light SemiCondensed" pitchFamily="34" charset="0"/>
              </a:rPr>
              <a:t>public static void main(String[] </a:t>
            </a:r>
            <a:r>
              <a:rPr lang="en-US" dirty="0" err="1" smtClean="0">
                <a:latin typeface="Bahnschrift Light SemiCondensed" pitchFamily="34" charset="0"/>
              </a:rPr>
              <a:t>args</a:t>
            </a:r>
            <a:r>
              <a:rPr lang="en-US" dirty="0" smtClean="0">
                <a:latin typeface="Bahnschrift Light SemiCondensed" pitchFamily="34" charset="0"/>
              </a:rPr>
              <a:t>) </a:t>
            </a:r>
            <a:r>
              <a:rPr lang="en-US" dirty="0" smtClean="0">
                <a:latin typeface="Bahnschrift Light SemiCondensed" pitchFamily="34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        </a:t>
            </a:r>
            <a:r>
              <a:rPr lang="en-US" dirty="0" smtClean="0">
                <a:latin typeface="Bahnschrift Light SemiCondensed" pitchFamily="34" charset="0"/>
              </a:rPr>
              <a:t>Student s = new Student</a:t>
            </a:r>
            <a:r>
              <a:rPr lang="en-US" dirty="0" smtClean="0">
                <a:latin typeface="Bahnschrift Light SemiCondensed" pitchFamily="34" charset="0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Bahnschrift Light SemiCondensed" pitchFamily="34" charset="0"/>
              </a:rPr>
              <a:t>    </a:t>
            </a:r>
            <a:r>
              <a:rPr lang="en-US" dirty="0" smtClean="0">
                <a:latin typeface="Bahnschrift Light SemiCondensed" pitchFamily="34" charset="0"/>
              </a:rPr>
              <a:t>} }</a:t>
            </a:r>
            <a:endParaRPr lang="en-US" dirty="0">
              <a:latin typeface="Bahnschrift Light SemiCondensed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1363</Words>
  <Application>Microsoft Office PowerPoint</Application>
  <PresentationFormat>On-screen Show (4:3)</PresentationFormat>
  <Paragraphs>332</Paragraphs>
  <Slides>21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import java.util.Scanner; class Main{     public static void main(String[] args){         Scanner sc = new Scanner(System.in);         int mark = sc.nextInt();         if(mark &gt;= 90){             System.out.println("Grade A");         } else if(mark&gt;=80) {             System.out.println("Grade B");         } else if(mark&gt;=70){             System.out.println("Grade C");         } else {             System.out.println("Failed!");         }     } }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Ankur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 java.util.Scanner; class Main{     public static void main(String[] args){         Scanner sc = new Scanner(System.in);         int mark = sc.nextInt();         if(mark &gt;= 90){             System.out.println("Grade A");         } else if(mark&gt;=80) {             System.out.println("Grade B");         } else if(mark&gt;=70){             System.out.println("Grade C");         } else {             System.out.println("Failed!");         }     } }</dc:title>
  <dc:creator>AHSAN</dc:creator>
  <cp:lastModifiedBy>AHSAN</cp:lastModifiedBy>
  <cp:revision>21</cp:revision>
  <dcterms:created xsi:type="dcterms:W3CDTF">2025-09-24T10:44:20Z</dcterms:created>
  <dcterms:modified xsi:type="dcterms:W3CDTF">2025-09-27T08:52:28Z</dcterms:modified>
</cp:coreProperties>
</file>